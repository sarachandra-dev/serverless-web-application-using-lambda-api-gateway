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8" r:id="rId13"/>
  </p:sldIdLst>
  <p:sldSz cx="9144000" cy="5143500" type="screen16x9"/>
  <p:notesSz cx="5143500" cy="9144000"/>
  <p:embeddedFontLst>
    <p:embeddedFont>
      <p:font typeface="Calibri Light" panose="020F0302020204030204" pitchFamily="34" charset="0"/>
      <p:regular r:id="rId15"/>
      <p:italic r:id="rId16"/>
    </p:embeddedFont>
    <p:embeddedFont>
      <p:font typeface="DM Sans Bold" panose="020B0604020202020204" charset="0"/>
      <p:regular r:id="rId17"/>
    </p:embeddedFont>
    <p:embeddedFont>
      <p:font typeface="Consolas" panose="020B0609020204030204" pitchFamily="49" charset="0"/>
      <p:regular r:id="rId18"/>
      <p:bold r:id="rId19"/>
      <p:italic r:id="rId20"/>
      <p:boldItalic r:id="rId21"/>
    </p:embeddedFont>
    <p:embeddedFont>
      <p:font typeface="Calibri" panose="020F0502020204030204" pitchFamily="34" charset="0"/>
      <p:regular r:id="rId22"/>
      <p:bold r:id="rId23"/>
      <p:italic r:id="rId24"/>
      <p:boldItalic r:id="rId25"/>
    </p:embeddedFont>
    <p:embeddedFont>
      <p:font typeface="DM Sans" panose="020B0604020202020204" charset="0"/>
      <p:regular r:id="rId26"/>
    </p:embeddedFont>
    <p:embeddedFont>
      <p:font typeface="Libre Baskerville" panose="020B0604020202020204" charset="0"/>
      <p:regular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2" autoAdjust="0"/>
  </p:normalViewPr>
  <p:slideViewPr>
    <p:cSldViewPr snapToGrid="0" snapToObjects="1">
      <p:cViewPr varScale="1">
        <p:scale>
          <a:sx n="118" d="100"/>
          <a:sy n="118" d="100"/>
        </p:scale>
        <p:origin x="418"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959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22470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766591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2.svg"/><Relationship Id="rId5" Type="http://schemas.openxmlformats.org/officeDocument/2006/relationships/image" Target="../media/image-4-2.svg"/><Relationship Id="rId10" Type="http://schemas.openxmlformats.org/officeDocument/2006/relationships/image" Target="../media/image-4-2.svg"/><Relationship Id="rId4" Type="http://schemas.openxmlformats.org/officeDocument/2006/relationships/image" Target="../media/image-4-2.sv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2.svg"/><Relationship Id="rId5" Type="http://schemas.openxmlformats.org/officeDocument/2006/relationships/image" Target="../media/image-9-2.svg"/><Relationship Id="rId4" Type="http://schemas.openxmlformats.org/officeDocument/2006/relationships/image" Target="../media/image-9-2.sv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46296"/>
            <a:ext cx="3647975" cy="4191216"/>
          </a:xfrm>
          <a:prstGeom prst="rect">
            <a:avLst/>
          </a:prstGeom>
        </p:spPr>
      </p:pic>
      <p:sp>
        <p:nvSpPr>
          <p:cNvPr id="3" name="Text 0"/>
          <p:cNvSpPr/>
          <p:nvPr/>
        </p:nvSpPr>
        <p:spPr>
          <a:xfrm>
            <a:off x="3925119" y="1289893"/>
            <a:ext cx="4722763" cy="387548"/>
          </a:xfrm>
          <a:prstGeom prst="rect">
            <a:avLst/>
          </a:prstGeom>
          <a:noFill/>
          <a:ln/>
        </p:spPr>
        <p:txBody>
          <a:bodyPr wrap="none" lIns="0" tIns="0" rIns="0" bIns="0" rtlCol="0" anchor="t"/>
          <a:lstStyle/>
          <a:p>
            <a:pPr marL="0" indent="0" algn="l">
              <a:lnSpc>
                <a:spcPct val="104000"/>
              </a:lnSpc>
              <a:buNone/>
            </a:pPr>
            <a:endParaRPr lang="en-US" sz="2400" dirty="0"/>
          </a:p>
        </p:txBody>
      </p:sp>
      <p:sp>
        <p:nvSpPr>
          <p:cNvPr id="4" name="Text 1"/>
          <p:cNvSpPr/>
          <p:nvPr/>
        </p:nvSpPr>
        <p:spPr>
          <a:xfrm>
            <a:off x="3786547" y="1034064"/>
            <a:ext cx="4722763" cy="620167"/>
          </a:xfrm>
          <a:prstGeom prst="rect">
            <a:avLst/>
          </a:prstGeom>
          <a:noFill/>
          <a:ln/>
        </p:spPr>
        <p:txBody>
          <a:bodyPr wrap="square" lIns="0" tIns="0" rIns="0" bIns="0" rtlCol="0" anchor="t">
            <a:normAutofit/>
          </a:bodyPr>
          <a:lstStyle/>
          <a:p>
            <a:pPr>
              <a:lnSpc>
                <a:spcPct val="104000"/>
              </a:lnSpc>
            </a:pPr>
            <a:r>
              <a:rPr lang="en-US" sz="1950" dirty="0" smtClean="0">
                <a:solidFill>
                  <a:srgbClr val="5C4E3D"/>
                </a:solidFill>
                <a:ea typeface="Libre Baskerville" pitchFamily="34" charset="-122"/>
                <a:cs typeface="Libre Baskerville" pitchFamily="34" charset="-120"/>
              </a:rPr>
              <a:t>Project Title</a:t>
            </a:r>
            <a:r>
              <a:rPr lang="en-US" sz="1950" dirty="0" smtClean="0">
                <a:solidFill>
                  <a:srgbClr val="5C4E3D"/>
                </a:solidFill>
                <a:latin typeface="Libre Baskerville" pitchFamily="34" charset="0"/>
                <a:ea typeface="Libre Baskerville" pitchFamily="34" charset="-122"/>
                <a:cs typeface="Libre Baskerville" pitchFamily="34" charset="-120"/>
              </a:rPr>
              <a:t>: </a:t>
            </a:r>
            <a:r>
              <a:rPr lang="en-US" sz="1950" dirty="0" err="1" smtClean="0">
                <a:solidFill>
                  <a:srgbClr val="5C4E3D"/>
                </a:solidFill>
                <a:latin typeface="+mj-lt"/>
                <a:ea typeface="Libre Baskerville" pitchFamily="34" charset="-122"/>
                <a:cs typeface="Libre Baskerville" pitchFamily="34" charset="-120"/>
              </a:rPr>
              <a:t>Serverless</a:t>
            </a:r>
            <a:r>
              <a:rPr lang="en-US" sz="1950" dirty="0" smtClean="0">
                <a:solidFill>
                  <a:srgbClr val="5C4E3D"/>
                </a:solidFill>
                <a:latin typeface="+mj-lt"/>
                <a:ea typeface="Libre Baskerville" pitchFamily="34" charset="-122"/>
                <a:cs typeface="Libre Baskerville" pitchFamily="34" charset="-120"/>
              </a:rPr>
              <a:t> Web </a:t>
            </a:r>
            <a:r>
              <a:rPr lang="en-US" sz="1950" dirty="0">
                <a:solidFill>
                  <a:srgbClr val="5C4E3D"/>
                </a:solidFill>
                <a:latin typeface="+mj-lt"/>
                <a:ea typeface="Libre Baskerville" pitchFamily="34" charset="-122"/>
                <a:cs typeface="Libre Baskerville" pitchFamily="34" charset="-120"/>
              </a:rPr>
              <a:t>Application using Lambda + API Gateway</a:t>
            </a:r>
            <a:endParaRPr lang="en-US" sz="1950" dirty="0">
              <a:latin typeface="+mj-lt"/>
            </a:endParaRPr>
          </a:p>
        </p:txBody>
      </p:sp>
      <p:sp>
        <p:nvSpPr>
          <p:cNvPr id="5" name="Text 2"/>
          <p:cNvSpPr/>
          <p:nvPr/>
        </p:nvSpPr>
        <p:spPr>
          <a:xfrm>
            <a:off x="5132832" y="3041904"/>
            <a:ext cx="4071422" cy="1859280"/>
          </a:xfrm>
          <a:prstGeom prst="rect">
            <a:avLst/>
          </a:prstGeom>
          <a:noFill/>
          <a:ln/>
        </p:spPr>
        <p:txBody>
          <a:bodyPr wrap="square" lIns="0" tIns="0" rIns="0" bIns="0" rtlCol="0" anchor="t">
            <a:normAutofit/>
          </a:bodyPr>
          <a:lstStyle/>
          <a:p>
            <a:pPr>
              <a:lnSpc>
                <a:spcPct val="133000"/>
              </a:lnSpc>
            </a:pPr>
            <a:endParaRPr lang="en-US" sz="950" dirty="0"/>
          </a:p>
        </p:txBody>
      </p:sp>
      <p:sp>
        <p:nvSpPr>
          <p:cNvPr id="14" name="Text 11"/>
          <p:cNvSpPr/>
          <p:nvPr/>
        </p:nvSpPr>
        <p:spPr>
          <a:xfrm>
            <a:off x="3894429" y="1991840"/>
            <a:ext cx="1281708" cy="1298882"/>
          </a:xfrm>
          <a:prstGeom prst="rect">
            <a:avLst/>
          </a:prstGeom>
          <a:noFill/>
          <a:ln/>
        </p:spPr>
        <p:txBody>
          <a:bodyPr wrap="none" lIns="0" tIns="0" rIns="0" bIns="0" rtlCol="0" anchor="t"/>
          <a:lstStyle/>
          <a:p>
            <a:pPr marL="0" indent="0" algn="l">
              <a:lnSpc>
                <a:spcPct val="96000"/>
              </a:lnSpc>
              <a:buNone/>
            </a:pPr>
            <a:r>
              <a:rPr lang="en-US" sz="1400" dirty="0" smtClean="0"/>
              <a:t>Batch Number: </a:t>
            </a:r>
            <a:r>
              <a:rPr lang="en-US" sz="1400" dirty="0" smtClean="0"/>
              <a:t>37</a:t>
            </a:r>
            <a:endParaRPr lang="en-US" sz="1400" dirty="0"/>
          </a:p>
        </p:txBody>
      </p:sp>
      <p:sp>
        <p:nvSpPr>
          <p:cNvPr id="21" name="Text 11"/>
          <p:cNvSpPr/>
          <p:nvPr/>
        </p:nvSpPr>
        <p:spPr>
          <a:xfrm>
            <a:off x="3855833" y="2577085"/>
            <a:ext cx="2292096" cy="1347216"/>
          </a:xfrm>
          <a:prstGeom prst="rect">
            <a:avLst/>
          </a:prstGeom>
          <a:noFill/>
          <a:ln/>
        </p:spPr>
        <p:txBody>
          <a:bodyPr wrap="none" lIns="0" tIns="0" rIns="0" bIns="0" rtlCol="0" anchor="t"/>
          <a:lstStyle/>
          <a:p>
            <a:r>
              <a:rPr lang="en-US" sz="1400" dirty="0" smtClean="0"/>
              <a:t>A </a:t>
            </a:r>
            <a:r>
              <a:rPr lang="en-US" sz="1400" dirty="0"/>
              <a:t>Team of 5 members:</a:t>
            </a:r>
          </a:p>
          <a:p>
            <a:r>
              <a:rPr lang="en-US" sz="1400" dirty="0"/>
              <a:t>1.</a:t>
            </a:r>
            <a:r>
              <a:rPr lang="en-US" sz="1400" i="1" dirty="0"/>
              <a:t> LINGALA SARACHANDRA,23BQ1A05C2,VVIT GUNTUR,(Batch-1)</a:t>
            </a:r>
            <a:endParaRPr lang="en-US" sz="1400" dirty="0"/>
          </a:p>
          <a:p>
            <a:r>
              <a:rPr lang="en-US" sz="1400" dirty="0"/>
              <a:t>2.</a:t>
            </a:r>
            <a:r>
              <a:rPr lang="en-US" sz="1400" i="1" dirty="0"/>
              <a:t> JAGADALA NAGENDRA BABU,23BQ1A0591,VVIT GUNTUR,(Batch-1)</a:t>
            </a:r>
            <a:endParaRPr lang="en-US" sz="1400" dirty="0"/>
          </a:p>
          <a:p>
            <a:r>
              <a:rPr lang="en-US" sz="1400" i="1" dirty="0"/>
              <a:t>3. PACHIPALA NARESH KUMAR,23BQ1A05G3,VVIT GUNTUR,(Batch-1)</a:t>
            </a:r>
            <a:endParaRPr lang="en-US" sz="1400" dirty="0"/>
          </a:p>
          <a:p>
            <a:r>
              <a:rPr lang="en-US" sz="1400" i="1" dirty="0"/>
              <a:t>4. SUMALA JAGADEESH,23BQ1A0592,VVIT GUNTUR,(Batch-1)</a:t>
            </a:r>
            <a:endParaRPr lang="en-US" sz="1400" dirty="0"/>
          </a:p>
          <a:p>
            <a:r>
              <a:rPr lang="en-US" sz="1400" dirty="0"/>
              <a:t>5.</a:t>
            </a:r>
            <a:r>
              <a:rPr lang="en-US" sz="1400" i="1" dirty="0"/>
              <a:t> GULLAPUDI DURGA PRASAD,23BQ1A0586,VVIT GUNTUR,(Batch-1)</a:t>
            </a:r>
            <a:endParaRPr lang="en-US" sz="1400" dirty="0">
              <a:effectLst/>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80" y="2808"/>
            <a:ext cx="9144000" cy="94947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999533" y="722965"/>
            <a:ext cx="4722763"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QuickShare</a:t>
            </a:r>
            <a:endParaRPr lang="en-US" sz="2400" dirty="0"/>
          </a:p>
        </p:txBody>
      </p:sp>
      <p:sp>
        <p:nvSpPr>
          <p:cNvPr id="4" name="Text 1"/>
          <p:cNvSpPr/>
          <p:nvPr/>
        </p:nvSpPr>
        <p:spPr>
          <a:xfrm>
            <a:off x="4049130" y="1250038"/>
            <a:ext cx="4722763" cy="620167"/>
          </a:xfrm>
          <a:prstGeom prst="rect">
            <a:avLst/>
          </a:prstGeom>
          <a:noFill/>
          <a:ln/>
        </p:spPr>
        <p:txBody>
          <a:bodyPr wrap="square" lIns="0" tIns="0" rIns="0" bIns="0" rtlCol="0" anchor="t">
            <a:normAutofit/>
          </a:bodyPr>
          <a:lstStyle/>
          <a:p>
            <a:pPr marL="0" indent="0" algn="l">
              <a:lnSpc>
                <a:spcPct val="104000"/>
              </a:lnSpc>
              <a:buNone/>
            </a:pPr>
            <a:r>
              <a:rPr lang="en-US" sz="1950" dirty="0">
                <a:solidFill>
                  <a:srgbClr val="5C4E3D"/>
                </a:solidFill>
                <a:latin typeface="Libre Baskerville" pitchFamily="34" charset="0"/>
                <a:ea typeface="Libre Baskerville" pitchFamily="34" charset="-122"/>
                <a:cs typeface="Libre Baskerville" pitchFamily="34" charset="-120"/>
              </a:rPr>
              <a:t>Serverless Web Application using React.js and AWS Cloud Services</a:t>
            </a:r>
            <a:endParaRPr lang="en-US" sz="1950" dirty="0"/>
          </a:p>
        </p:txBody>
      </p:sp>
      <p:sp>
        <p:nvSpPr>
          <p:cNvPr id="5" name="Text 2"/>
          <p:cNvSpPr/>
          <p:nvPr/>
        </p:nvSpPr>
        <p:spPr>
          <a:xfrm>
            <a:off x="4076365" y="2009730"/>
            <a:ext cx="472276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QuickShare is a serverless web application that enables users to securely share text using a unique share code. Built with React.js for the frontend and powered by AWS Lambda, API Gateway, Amazon S3, IAM, and CloudWatch, it eliminates traditional server management while delivering scalability, reliability, and cost efficiency.</a:t>
            </a:r>
            <a:endParaRPr lang="en-US" sz="950" dirty="0"/>
          </a:p>
        </p:txBody>
      </p:sp>
      <p:sp>
        <p:nvSpPr>
          <p:cNvPr id="14" name="Text 11"/>
          <p:cNvSpPr/>
          <p:nvPr/>
        </p:nvSpPr>
        <p:spPr>
          <a:xfrm>
            <a:off x="6099870" y="3702248"/>
            <a:ext cx="1281708" cy="114151"/>
          </a:xfrm>
          <a:prstGeom prst="rect">
            <a:avLst/>
          </a:prstGeom>
          <a:noFill/>
          <a:ln/>
        </p:spPr>
        <p:txBody>
          <a:bodyPr wrap="none" lIns="0" tIns="0" rIns="0" bIns="0" rtlCol="0" anchor="t"/>
          <a:lstStyle/>
          <a:p>
            <a:pPr marL="0" indent="0" algn="l">
              <a:lnSpc>
                <a:spcPct val="96000"/>
              </a:lnSpc>
              <a:buNone/>
            </a:pPr>
            <a:endParaRPr lang="en-US" sz="750" dirty="0"/>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38" y="128016"/>
            <a:ext cx="3580841" cy="4681728"/>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987" y="3243376"/>
            <a:ext cx="3464141" cy="431408"/>
          </a:xfrm>
          <a:prstGeom prst="rect">
            <a:avLst/>
          </a:prstGeom>
        </p:spPr>
      </p:pic>
    </p:spTree>
    <p:extLst>
      <p:ext uri="{BB962C8B-B14F-4D97-AF65-F5344CB8AC3E}">
        <p14:creationId xmlns:p14="http://schemas.microsoft.com/office/powerpoint/2010/main" val="12903247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01824"/>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Project Overview</a:t>
            </a:r>
            <a:endParaRPr lang="en-US" sz="2400" dirty="0"/>
          </a:p>
        </p:txBody>
      </p:sp>
      <p:sp>
        <p:nvSpPr>
          <p:cNvPr id="3" name="Text 1"/>
          <p:cNvSpPr/>
          <p:nvPr/>
        </p:nvSpPr>
        <p:spPr>
          <a:xfrm>
            <a:off x="496119" y="1537395"/>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QuickShare is a cloud-based text-sharing platform where users generate a unique share code for their content and retrieve it later. The frontend, built with React.js, is hosted as a static website on Amazon S3. Backend logic runs on AWS Lambda, invoked through Amazon API Gateway. Shared data is stored in MongoDB Atlas, while CloudWatch monitors logs and IAM controls access between AWS services.</a:t>
            </a:r>
            <a:endParaRPr lang="en-US" sz="950" dirty="0"/>
          </a:p>
        </p:txBody>
      </p:sp>
      <p:sp>
        <p:nvSpPr>
          <p:cNvPr id="4" name="Shape 2"/>
          <p:cNvSpPr/>
          <p:nvPr/>
        </p:nvSpPr>
        <p:spPr>
          <a:xfrm>
            <a:off x="496119" y="2272308"/>
            <a:ext cx="4013895" cy="922660"/>
          </a:xfrm>
          <a:prstGeom prst="roundRect">
            <a:avLst>
              <a:gd name="adj" fmla="val 5647"/>
            </a:avLst>
          </a:prstGeom>
          <a:solidFill>
            <a:srgbClr val="F7EDD4"/>
          </a:solidFill>
          <a:ln w="4763">
            <a:solidFill>
              <a:srgbClr val="DDD3BA"/>
            </a:solidFill>
            <a:prstDash val="solid"/>
          </a:ln>
        </p:spPr>
      </p:sp>
      <p:sp>
        <p:nvSpPr>
          <p:cNvPr id="5" name="Text 3"/>
          <p:cNvSpPr/>
          <p:nvPr/>
        </p:nvSpPr>
        <p:spPr>
          <a:xfrm>
            <a:off x="624855" y="2401044"/>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Frontend</a:t>
            </a:r>
            <a:endParaRPr lang="en-US" sz="1200" dirty="0"/>
          </a:p>
        </p:txBody>
      </p:sp>
      <p:sp>
        <p:nvSpPr>
          <p:cNvPr id="6" name="Text 4"/>
          <p:cNvSpPr/>
          <p:nvPr/>
        </p:nvSpPr>
        <p:spPr>
          <a:xfrm>
            <a:off x="624855" y="2669307"/>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React.js </a:t>
            </a:r>
            <a:r>
              <a:rPr lang="en-US" sz="950" dirty="0" smtClean="0">
                <a:solidFill>
                  <a:srgbClr val="454240"/>
                </a:solidFill>
                <a:latin typeface="DM Sans" pitchFamily="34" charset="0"/>
                <a:ea typeface="DM Sans" pitchFamily="34" charset="-122"/>
                <a:cs typeface="DM Sans" pitchFamily="34" charset="-120"/>
              </a:rPr>
              <a:t>hosted </a:t>
            </a:r>
            <a:r>
              <a:rPr lang="en-US" sz="950" dirty="0">
                <a:solidFill>
                  <a:srgbClr val="454240"/>
                </a:solidFill>
                <a:latin typeface="DM Sans" pitchFamily="34" charset="0"/>
                <a:ea typeface="DM Sans" pitchFamily="34" charset="-122"/>
                <a:cs typeface="DM Sans" pitchFamily="34" charset="-120"/>
              </a:rPr>
              <a:t>on Amazon S3 as a static website with S3 bucket policies for public access</a:t>
            </a:r>
            <a:endParaRPr lang="en-US" sz="950" dirty="0"/>
          </a:p>
        </p:txBody>
      </p:sp>
      <p:sp>
        <p:nvSpPr>
          <p:cNvPr id="7" name="Shape 5"/>
          <p:cNvSpPr/>
          <p:nvPr/>
        </p:nvSpPr>
        <p:spPr>
          <a:xfrm>
            <a:off x="4633987" y="2272308"/>
            <a:ext cx="4013895" cy="922660"/>
          </a:xfrm>
          <a:prstGeom prst="roundRect">
            <a:avLst>
              <a:gd name="adj" fmla="val 5647"/>
            </a:avLst>
          </a:prstGeom>
          <a:solidFill>
            <a:srgbClr val="F7EDD4"/>
          </a:solidFill>
          <a:ln w="4763">
            <a:solidFill>
              <a:srgbClr val="DDD3BA"/>
            </a:solidFill>
            <a:prstDash val="solid"/>
          </a:ln>
        </p:spPr>
      </p:sp>
      <p:sp>
        <p:nvSpPr>
          <p:cNvPr id="8" name="Text 6"/>
          <p:cNvSpPr/>
          <p:nvPr/>
        </p:nvSpPr>
        <p:spPr>
          <a:xfrm>
            <a:off x="4762723" y="2401044"/>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Backend</a:t>
            </a:r>
            <a:endParaRPr lang="en-US" sz="1200" dirty="0"/>
          </a:p>
        </p:txBody>
      </p:sp>
      <p:sp>
        <p:nvSpPr>
          <p:cNvPr id="9" name="Text 7"/>
          <p:cNvSpPr/>
          <p:nvPr/>
        </p:nvSpPr>
        <p:spPr>
          <a:xfrm>
            <a:off x="4762723" y="2669307"/>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AWS Lambda functions invoked via RESTful API Gateway endpoints, processing requests on demand</a:t>
            </a:r>
            <a:endParaRPr lang="en-US" sz="950" dirty="0"/>
          </a:p>
        </p:txBody>
      </p:sp>
      <p:sp>
        <p:nvSpPr>
          <p:cNvPr id="10" name="Shape 8"/>
          <p:cNvSpPr/>
          <p:nvPr/>
        </p:nvSpPr>
        <p:spPr>
          <a:xfrm>
            <a:off x="496119" y="3318942"/>
            <a:ext cx="4013895" cy="922660"/>
          </a:xfrm>
          <a:prstGeom prst="roundRect">
            <a:avLst>
              <a:gd name="adj" fmla="val 5647"/>
            </a:avLst>
          </a:prstGeom>
          <a:solidFill>
            <a:srgbClr val="F7EDD4"/>
          </a:solidFill>
          <a:ln w="4763">
            <a:solidFill>
              <a:srgbClr val="DDD3BA"/>
            </a:solidFill>
            <a:prstDash val="solid"/>
          </a:ln>
        </p:spPr>
      </p:sp>
      <p:sp>
        <p:nvSpPr>
          <p:cNvPr id="11" name="Text 9"/>
          <p:cNvSpPr/>
          <p:nvPr/>
        </p:nvSpPr>
        <p:spPr>
          <a:xfrm>
            <a:off x="624855" y="3447678"/>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Database</a:t>
            </a:r>
            <a:endParaRPr lang="en-US" sz="1200" dirty="0"/>
          </a:p>
        </p:txBody>
      </p:sp>
      <p:sp>
        <p:nvSpPr>
          <p:cNvPr id="12" name="Text 10"/>
          <p:cNvSpPr/>
          <p:nvPr/>
        </p:nvSpPr>
        <p:spPr>
          <a:xfrm>
            <a:off x="624855" y="3715941"/>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MongoDB Atlas cloud database for persistent, scalable storage of shared text content</a:t>
            </a:r>
            <a:endParaRPr lang="en-US" sz="950" dirty="0"/>
          </a:p>
        </p:txBody>
      </p:sp>
      <p:sp>
        <p:nvSpPr>
          <p:cNvPr id="13" name="Shape 11"/>
          <p:cNvSpPr/>
          <p:nvPr/>
        </p:nvSpPr>
        <p:spPr>
          <a:xfrm>
            <a:off x="4633987" y="3318942"/>
            <a:ext cx="4013895" cy="922660"/>
          </a:xfrm>
          <a:prstGeom prst="roundRect">
            <a:avLst>
              <a:gd name="adj" fmla="val 5647"/>
            </a:avLst>
          </a:prstGeom>
          <a:solidFill>
            <a:srgbClr val="F7EDD4"/>
          </a:solidFill>
          <a:ln w="4763">
            <a:solidFill>
              <a:srgbClr val="DDD3BA"/>
            </a:solidFill>
            <a:prstDash val="solid"/>
          </a:ln>
        </p:spPr>
      </p:sp>
      <p:sp>
        <p:nvSpPr>
          <p:cNvPr id="14" name="Text 12"/>
          <p:cNvSpPr/>
          <p:nvPr/>
        </p:nvSpPr>
        <p:spPr>
          <a:xfrm>
            <a:off x="4762723" y="3447678"/>
            <a:ext cx="3756422"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Monitoring</a:t>
            </a:r>
            <a:endParaRPr lang="en-US" sz="1200" dirty="0"/>
          </a:p>
        </p:txBody>
      </p:sp>
      <p:sp>
        <p:nvSpPr>
          <p:cNvPr id="15" name="Text 13"/>
          <p:cNvSpPr/>
          <p:nvPr/>
        </p:nvSpPr>
        <p:spPr>
          <a:xfrm>
            <a:off x="4762723" y="3715941"/>
            <a:ext cx="375642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Amazon CloudWatch captures execution logs and metrics for observability and debugging</a:t>
            </a:r>
            <a:endParaRPr lang="en-US" sz="9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988070"/>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Problem Statement</a:t>
            </a:r>
            <a:endParaRPr lang="en-US" sz="2400" dirty="0"/>
          </a:p>
        </p:txBody>
      </p:sp>
      <p:sp>
        <p:nvSpPr>
          <p:cNvPr id="3" name="Shape 1"/>
          <p:cNvSpPr/>
          <p:nvPr/>
        </p:nvSpPr>
        <p:spPr>
          <a:xfrm>
            <a:off x="406822" y="1561654"/>
            <a:ext cx="4525863" cy="2593702"/>
          </a:xfrm>
          <a:prstGeom prst="roundRect">
            <a:avLst>
              <a:gd name="adj" fmla="val 3443"/>
            </a:avLst>
          </a:prstGeom>
          <a:solidFill>
            <a:srgbClr val="B88E23"/>
          </a:solidFill>
          <a:ln/>
        </p:spPr>
      </p:sp>
      <p:sp>
        <p:nvSpPr>
          <p:cNvPr id="4" name="Text 2"/>
          <p:cNvSpPr/>
          <p:nvPr/>
        </p:nvSpPr>
        <p:spPr>
          <a:xfrm>
            <a:off x="530796" y="1685627"/>
            <a:ext cx="427791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The Challenge with Traditional Architecture</a:t>
            </a:r>
            <a:endParaRPr lang="en-US" sz="1200" dirty="0"/>
          </a:p>
        </p:txBody>
      </p:sp>
      <p:sp>
        <p:nvSpPr>
          <p:cNvPr id="5" name="Text 3"/>
          <p:cNvSpPr/>
          <p:nvPr/>
        </p:nvSpPr>
        <p:spPr>
          <a:xfrm>
            <a:off x="530796" y="2003450"/>
            <a:ext cx="4277916"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DM Sans" pitchFamily="34" charset="0"/>
                <a:ea typeface="DM Sans" pitchFamily="34" charset="-122"/>
                <a:cs typeface="DM Sans" pitchFamily="34" charset="-120"/>
              </a:rPr>
              <a:t>Traditional web applications require dedicated servers for hosting backend services, which increases infrastructure costs and operational complexity. These servers demand continuous maintenance, manual scaling, and regular monitoring — all of which consume time and resources even during periods of low traffic.</a:t>
            </a:r>
            <a:endParaRPr lang="en-US" sz="950" dirty="0"/>
          </a:p>
        </p:txBody>
      </p:sp>
      <p:sp>
        <p:nvSpPr>
          <p:cNvPr id="6" name="Text 4"/>
          <p:cNvSpPr/>
          <p:nvPr/>
        </p:nvSpPr>
        <p:spPr>
          <a:xfrm>
            <a:off x="530796" y="3107382"/>
            <a:ext cx="4277916" cy="923999"/>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High infrastructure and maintenance costs</a:t>
            </a:r>
            <a:endParaRPr lang="en-US" sz="950" dirty="0"/>
          </a:p>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Manual scaling and capacity planning</a:t>
            </a:r>
            <a:endParaRPr lang="en-US" sz="950" dirty="0"/>
          </a:p>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Continuous server monitoring overhead</a:t>
            </a:r>
            <a:endParaRPr lang="en-US" sz="950" dirty="0"/>
          </a:p>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Complex deployment and update cycles</a:t>
            </a:r>
            <a:endParaRPr lang="en-US" sz="950" dirty="0"/>
          </a:p>
        </p:txBody>
      </p:sp>
      <p:sp>
        <p:nvSpPr>
          <p:cNvPr id="7" name="Text 5"/>
          <p:cNvSpPr/>
          <p:nvPr/>
        </p:nvSpPr>
        <p:spPr>
          <a:xfrm>
            <a:off x="5150718" y="1685627"/>
            <a:ext cx="3501851" cy="193849"/>
          </a:xfrm>
          <a:prstGeom prst="rect">
            <a:avLst/>
          </a:prstGeom>
          <a:noFill/>
          <a:ln/>
        </p:spPr>
        <p:txBody>
          <a:bodyPr wrap="none" lIns="0" tIns="0" rIns="0" bIns="0" rtlCol="0" anchor="t"/>
          <a:lstStyle/>
          <a:p>
            <a:pPr marL="0" indent="0" algn="l">
              <a:lnSpc>
                <a:spcPct val="104000"/>
              </a:lnSpc>
              <a:buNone/>
            </a:pPr>
            <a:r>
              <a:rPr lang="en-US" sz="1200" dirty="0">
                <a:solidFill>
                  <a:srgbClr val="5C4E3D"/>
                </a:solidFill>
                <a:latin typeface="Libre Baskerville" pitchFamily="34" charset="0"/>
                <a:ea typeface="Libre Baskerville" pitchFamily="34" charset="-122"/>
                <a:cs typeface="Libre Baskerville" pitchFamily="34" charset="-120"/>
              </a:rPr>
              <a:t>The Serverless Solution</a:t>
            </a:r>
            <a:endParaRPr lang="en-US" sz="1200" dirty="0"/>
          </a:p>
        </p:txBody>
      </p:sp>
      <p:sp>
        <p:nvSpPr>
          <p:cNvPr id="8" name="Text 6"/>
          <p:cNvSpPr/>
          <p:nvPr/>
        </p:nvSpPr>
        <p:spPr>
          <a:xfrm>
            <a:off x="5150718" y="2003450"/>
            <a:ext cx="3501851"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By adopting a serverless architecture, QuickShare removes the need to provision or manage servers entirely. AWS automatically handles infrastructure provisioning, scaling, and availability — allowing developers to focus purely on application logic.</a:t>
            </a:r>
            <a:endParaRPr lang="en-US" sz="950" dirty="0"/>
          </a:p>
        </p:txBody>
      </p:sp>
      <p:sp>
        <p:nvSpPr>
          <p:cNvPr id="9" name="Shape 7"/>
          <p:cNvSpPr/>
          <p:nvPr/>
        </p:nvSpPr>
        <p:spPr>
          <a:xfrm>
            <a:off x="5150718" y="3135288"/>
            <a:ext cx="3501851" cy="880542"/>
          </a:xfrm>
          <a:prstGeom prst="roundRect">
            <a:avLst>
              <a:gd name="adj" fmla="val 5917"/>
            </a:avLst>
          </a:prstGeom>
          <a:solidFill>
            <a:srgbClr val="F7EDD4"/>
          </a:solidFill>
          <a:ln/>
        </p:spPr>
      </p:sp>
      <p:pic>
        <p:nvPicPr>
          <p:cNvPr id="10" name="Image 0" descr="preencoded.png"/>
          <p:cNvPicPr>
            <a:picLocks noChangeAspect="1"/>
          </p:cNvPicPr>
          <p:nvPr/>
        </p:nvPicPr>
        <p:blipFill>
          <a:blip r:embed="rId3"/>
          <a:stretch>
            <a:fillRect/>
          </a:stretch>
        </p:blipFill>
        <p:spPr>
          <a:xfrm>
            <a:off x="5274692" y="3319835"/>
            <a:ext cx="155004" cy="123974"/>
          </a:xfrm>
          <a:prstGeom prst="rect">
            <a:avLst/>
          </a:prstGeom>
        </p:spPr>
      </p:pic>
      <p:sp>
        <p:nvSpPr>
          <p:cNvPr id="11" name="Text 8"/>
          <p:cNvSpPr/>
          <p:nvPr/>
        </p:nvSpPr>
        <p:spPr>
          <a:xfrm>
            <a:off x="5553670" y="3277865"/>
            <a:ext cx="2974925"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DM Sans" pitchFamily="34" charset="0"/>
                <a:ea typeface="DM Sans" pitchFamily="34" charset="-122"/>
                <a:cs typeface="DM Sans" pitchFamily="34" charset="-120"/>
              </a:rPr>
              <a:t>With serverless, you pay only for actual compute time used — there are no charges when the application is idle.</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69391"/>
            <a:ext cx="8151763" cy="327050"/>
          </a:xfrm>
          <a:prstGeom prst="rect">
            <a:avLst/>
          </a:prstGeom>
          <a:noFill/>
          <a:ln/>
        </p:spPr>
        <p:txBody>
          <a:bodyPr wrap="none" lIns="0" tIns="0" rIns="0" bIns="0" rtlCol="0" anchor="t"/>
          <a:lstStyle/>
          <a:p>
            <a:pPr marL="0" indent="0" algn="l">
              <a:lnSpc>
                <a:spcPct val="104000"/>
              </a:lnSpc>
              <a:buNone/>
            </a:pPr>
            <a:r>
              <a:rPr lang="en-US" sz="2050" dirty="0">
                <a:solidFill>
                  <a:srgbClr val="5C4E3D"/>
                </a:solidFill>
                <a:latin typeface="Libre Baskerville" pitchFamily="34" charset="0"/>
                <a:ea typeface="Libre Baskerville" pitchFamily="34" charset="-122"/>
                <a:cs typeface="Libre Baskerville" pitchFamily="34" charset="-120"/>
              </a:rPr>
              <a:t>Project Objectives</a:t>
            </a:r>
            <a:endParaRPr lang="en-US" sz="2050" dirty="0"/>
          </a:p>
        </p:txBody>
      </p:sp>
      <p:sp>
        <p:nvSpPr>
          <p:cNvPr id="3" name="Text 1"/>
          <p:cNvSpPr/>
          <p:nvPr/>
        </p:nvSpPr>
        <p:spPr>
          <a:xfrm>
            <a:off x="496119" y="873026"/>
            <a:ext cx="8151763"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454240"/>
                </a:solidFill>
                <a:latin typeface="DM Sans" pitchFamily="34" charset="0"/>
                <a:ea typeface="DM Sans" pitchFamily="34" charset="-122"/>
                <a:cs typeface="DM Sans" pitchFamily="34" charset="-120"/>
              </a:rPr>
              <a:t>The primary objective is to develop a secure, scalable serverless web application for sharing text via unique share codes — leveraging the full power of AWS managed services.</a:t>
            </a:r>
            <a:endParaRPr lang="en-US" sz="8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96119" y="1281187"/>
            <a:ext cx="8151763" cy="627980"/>
          </a:xfrm>
          <a:prstGeom prst="rect">
            <a:avLst/>
          </a:prstGeom>
        </p:spPr>
      </p:pic>
      <p:sp>
        <p:nvSpPr>
          <p:cNvPr id="5" name="Text 2"/>
          <p:cNvSpPr/>
          <p:nvPr/>
        </p:nvSpPr>
        <p:spPr>
          <a:xfrm>
            <a:off x="638845" y="1497062"/>
            <a:ext cx="156939" cy="196230"/>
          </a:xfrm>
          <a:prstGeom prst="rect">
            <a:avLst/>
          </a:prstGeom>
          <a:noFill/>
          <a:ln/>
        </p:spPr>
        <p:txBody>
          <a:bodyPr wrap="none" lIns="0" tIns="0" rIns="0" bIns="0" rtlCol="0" anchor="ctr"/>
          <a:lstStyle/>
          <a:p>
            <a:pPr marL="0" indent="0" algn="ctr">
              <a:lnSpc>
                <a:spcPct val="100000"/>
              </a:lnSpc>
              <a:buNone/>
            </a:pPr>
            <a:r>
              <a:rPr lang="en-US" sz="1200" dirty="0">
                <a:solidFill>
                  <a:srgbClr val="454240"/>
                </a:solidFill>
                <a:latin typeface="Libre Baskerville" pitchFamily="34" charset="0"/>
                <a:ea typeface="Libre Baskerville" pitchFamily="34" charset="-122"/>
                <a:cs typeface="Libre Baskerville" pitchFamily="34" charset="-120"/>
              </a:rPr>
              <a:t>1</a:t>
            </a:r>
            <a:endParaRPr lang="en-US" sz="1200" dirty="0"/>
          </a:p>
        </p:txBody>
      </p:sp>
      <p:sp>
        <p:nvSpPr>
          <p:cNvPr id="6" name="Text 3"/>
          <p:cNvSpPr/>
          <p:nvPr/>
        </p:nvSpPr>
        <p:spPr>
          <a:xfrm>
            <a:off x="1017315" y="1400101"/>
            <a:ext cx="7511653" cy="163488"/>
          </a:xfrm>
          <a:prstGeom prst="rect">
            <a:avLst/>
          </a:prstGeom>
          <a:noFill/>
          <a:ln/>
        </p:spPr>
        <p:txBody>
          <a:bodyPr wrap="none" lIns="0" tIns="0" rIns="0" bIns="0" rtlCol="0" anchor="t"/>
          <a:lstStyle/>
          <a:p>
            <a:pPr marL="0" indent="0" algn="l">
              <a:lnSpc>
                <a:spcPct val="104000"/>
              </a:lnSpc>
              <a:buNone/>
            </a:pPr>
            <a:r>
              <a:rPr lang="en-US" sz="1000" dirty="0">
                <a:solidFill>
                  <a:srgbClr val="454240"/>
                </a:solidFill>
                <a:latin typeface="Libre Baskerville" pitchFamily="34" charset="0"/>
                <a:ea typeface="Libre Baskerville" pitchFamily="34" charset="-122"/>
                <a:cs typeface="Libre Baskerville" pitchFamily="34" charset="-120"/>
              </a:rPr>
              <a:t>Host Frontend on S3</a:t>
            </a:r>
            <a:endParaRPr lang="en-US" sz="1000" dirty="0"/>
          </a:p>
        </p:txBody>
      </p:sp>
      <p:sp>
        <p:nvSpPr>
          <p:cNvPr id="7" name="Text 4"/>
          <p:cNvSpPr/>
          <p:nvPr/>
        </p:nvSpPr>
        <p:spPr>
          <a:xfrm>
            <a:off x="1017315" y="1616571"/>
            <a:ext cx="7511653" cy="154409"/>
          </a:xfrm>
          <a:prstGeom prst="rect">
            <a:avLst/>
          </a:prstGeom>
          <a:noFill/>
          <a:ln/>
        </p:spPr>
        <p:txBody>
          <a:bodyPr wrap="none" lIns="0" tIns="0" rIns="0" bIns="0" rtlCol="0" anchor="t"/>
          <a:lstStyle/>
          <a:p>
            <a:pPr marL="0" indent="0" algn="l">
              <a:lnSpc>
                <a:spcPct val="123000"/>
              </a:lnSpc>
              <a:buNone/>
            </a:pPr>
            <a:r>
              <a:rPr lang="en-US" sz="800" dirty="0">
                <a:solidFill>
                  <a:srgbClr val="454240"/>
                </a:solidFill>
                <a:latin typeface="DM Sans" pitchFamily="34" charset="0"/>
                <a:ea typeface="DM Sans" pitchFamily="34" charset="-122"/>
                <a:cs typeface="DM Sans" pitchFamily="34" charset="-120"/>
              </a:rPr>
              <a:t>Serve the React.js application as a static website via Amazon S3 with public read access configured through bucket policies.</a:t>
            </a:r>
            <a:endParaRPr lang="en-US" sz="8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96119" y="1997422"/>
            <a:ext cx="8151763" cy="627980"/>
          </a:xfrm>
          <a:prstGeom prst="rect">
            <a:avLst/>
          </a:prstGeom>
        </p:spPr>
      </p:pic>
      <p:sp>
        <p:nvSpPr>
          <p:cNvPr id="9" name="Text 5"/>
          <p:cNvSpPr/>
          <p:nvPr/>
        </p:nvSpPr>
        <p:spPr>
          <a:xfrm>
            <a:off x="638845" y="2213297"/>
            <a:ext cx="156939" cy="196230"/>
          </a:xfrm>
          <a:prstGeom prst="rect">
            <a:avLst/>
          </a:prstGeom>
          <a:noFill/>
          <a:ln/>
        </p:spPr>
        <p:txBody>
          <a:bodyPr wrap="none" lIns="0" tIns="0" rIns="0" bIns="0" rtlCol="0" anchor="ctr"/>
          <a:lstStyle/>
          <a:p>
            <a:pPr marL="0" indent="0" algn="ctr">
              <a:lnSpc>
                <a:spcPct val="100000"/>
              </a:lnSpc>
              <a:buNone/>
            </a:pPr>
            <a:r>
              <a:rPr lang="en-US" sz="1200" dirty="0">
                <a:solidFill>
                  <a:srgbClr val="454240"/>
                </a:solidFill>
                <a:latin typeface="Libre Baskerville" pitchFamily="34" charset="0"/>
                <a:ea typeface="Libre Baskerville" pitchFamily="34" charset="-122"/>
                <a:cs typeface="Libre Baskerville" pitchFamily="34" charset="-120"/>
              </a:rPr>
              <a:t>2</a:t>
            </a:r>
            <a:endParaRPr lang="en-US" sz="1200" dirty="0"/>
          </a:p>
        </p:txBody>
      </p:sp>
      <p:sp>
        <p:nvSpPr>
          <p:cNvPr id="10" name="Text 6"/>
          <p:cNvSpPr/>
          <p:nvPr/>
        </p:nvSpPr>
        <p:spPr>
          <a:xfrm>
            <a:off x="1017315" y="2116336"/>
            <a:ext cx="7511653" cy="163488"/>
          </a:xfrm>
          <a:prstGeom prst="rect">
            <a:avLst/>
          </a:prstGeom>
          <a:noFill/>
          <a:ln/>
        </p:spPr>
        <p:txBody>
          <a:bodyPr wrap="none" lIns="0" tIns="0" rIns="0" bIns="0" rtlCol="0" anchor="t"/>
          <a:lstStyle/>
          <a:p>
            <a:pPr marL="0" indent="0" algn="l">
              <a:lnSpc>
                <a:spcPct val="104000"/>
              </a:lnSpc>
              <a:buNone/>
            </a:pPr>
            <a:r>
              <a:rPr lang="en-US" sz="1000" dirty="0">
                <a:solidFill>
                  <a:srgbClr val="454240"/>
                </a:solidFill>
                <a:latin typeface="Libre Baskerville" pitchFamily="34" charset="0"/>
                <a:ea typeface="Libre Baskerville" pitchFamily="34" charset="-122"/>
                <a:cs typeface="Libre Baskerville" pitchFamily="34" charset="-120"/>
              </a:rPr>
              <a:t>Process Requests with Lambda</a:t>
            </a:r>
            <a:endParaRPr lang="en-US" sz="1000" dirty="0"/>
          </a:p>
        </p:txBody>
      </p:sp>
      <p:sp>
        <p:nvSpPr>
          <p:cNvPr id="11" name="Text 7"/>
          <p:cNvSpPr/>
          <p:nvPr/>
        </p:nvSpPr>
        <p:spPr>
          <a:xfrm>
            <a:off x="1017315" y="2332806"/>
            <a:ext cx="7511653" cy="154409"/>
          </a:xfrm>
          <a:prstGeom prst="rect">
            <a:avLst/>
          </a:prstGeom>
          <a:noFill/>
          <a:ln/>
        </p:spPr>
        <p:txBody>
          <a:bodyPr wrap="none" lIns="0" tIns="0" rIns="0" bIns="0" rtlCol="0" anchor="t"/>
          <a:lstStyle/>
          <a:p>
            <a:pPr marL="0" indent="0" algn="l">
              <a:lnSpc>
                <a:spcPct val="123000"/>
              </a:lnSpc>
              <a:buNone/>
            </a:pPr>
            <a:r>
              <a:rPr lang="en-US" sz="800" dirty="0">
                <a:solidFill>
                  <a:srgbClr val="454240"/>
                </a:solidFill>
                <a:latin typeface="DM Sans" pitchFamily="34" charset="0"/>
                <a:ea typeface="DM Sans" pitchFamily="34" charset="-122"/>
                <a:cs typeface="DM Sans" pitchFamily="34" charset="-120"/>
              </a:rPr>
              <a:t>Execute backend logic using AWS Lambda, triggered only when API requests are received, ensuring cost-efficient compute.</a:t>
            </a:r>
            <a:endParaRPr lang="en-US" sz="800"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496119" y="2713658"/>
            <a:ext cx="8151763" cy="627980"/>
          </a:xfrm>
          <a:prstGeom prst="rect">
            <a:avLst/>
          </a:prstGeom>
        </p:spPr>
      </p:pic>
      <p:sp>
        <p:nvSpPr>
          <p:cNvPr id="13" name="Text 8"/>
          <p:cNvSpPr/>
          <p:nvPr/>
        </p:nvSpPr>
        <p:spPr>
          <a:xfrm>
            <a:off x="638845" y="2929533"/>
            <a:ext cx="156939" cy="196230"/>
          </a:xfrm>
          <a:prstGeom prst="rect">
            <a:avLst/>
          </a:prstGeom>
          <a:noFill/>
          <a:ln/>
        </p:spPr>
        <p:txBody>
          <a:bodyPr wrap="none" lIns="0" tIns="0" rIns="0" bIns="0" rtlCol="0" anchor="ctr"/>
          <a:lstStyle/>
          <a:p>
            <a:pPr marL="0" indent="0" algn="ctr">
              <a:lnSpc>
                <a:spcPct val="100000"/>
              </a:lnSpc>
              <a:buNone/>
            </a:pPr>
            <a:r>
              <a:rPr lang="en-US" sz="1200" dirty="0">
                <a:solidFill>
                  <a:srgbClr val="454240"/>
                </a:solidFill>
                <a:latin typeface="Libre Baskerville" pitchFamily="34" charset="0"/>
                <a:ea typeface="Libre Baskerville" pitchFamily="34" charset="-122"/>
                <a:cs typeface="Libre Baskerville" pitchFamily="34" charset="-120"/>
              </a:rPr>
              <a:t>3</a:t>
            </a:r>
            <a:endParaRPr lang="en-US" sz="1200" dirty="0"/>
          </a:p>
        </p:txBody>
      </p:sp>
      <p:sp>
        <p:nvSpPr>
          <p:cNvPr id="14" name="Text 9"/>
          <p:cNvSpPr/>
          <p:nvPr/>
        </p:nvSpPr>
        <p:spPr>
          <a:xfrm>
            <a:off x="1017315" y="2832571"/>
            <a:ext cx="7511653" cy="163488"/>
          </a:xfrm>
          <a:prstGeom prst="rect">
            <a:avLst/>
          </a:prstGeom>
          <a:noFill/>
          <a:ln/>
        </p:spPr>
        <p:txBody>
          <a:bodyPr wrap="none" lIns="0" tIns="0" rIns="0" bIns="0" rtlCol="0" anchor="t"/>
          <a:lstStyle/>
          <a:p>
            <a:pPr marL="0" indent="0" algn="l">
              <a:lnSpc>
                <a:spcPct val="104000"/>
              </a:lnSpc>
              <a:buNone/>
            </a:pPr>
            <a:r>
              <a:rPr lang="en-US" sz="1000" dirty="0">
                <a:solidFill>
                  <a:srgbClr val="454240"/>
                </a:solidFill>
                <a:latin typeface="Libre Baskerville" pitchFamily="34" charset="0"/>
                <a:ea typeface="Libre Baskerville" pitchFamily="34" charset="-122"/>
                <a:cs typeface="Libre Baskerville" pitchFamily="34" charset="-120"/>
              </a:rPr>
              <a:t>Expose REST APIs</a:t>
            </a:r>
            <a:endParaRPr lang="en-US" sz="1000" dirty="0"/>
          </a:p>
        </p:txBody>
      </p:sp>
      <p:sp>
        <p:nvSpPr>
          <p:cNvPr id="15" name="Text 10"/>
          <p:cNvSpPr/>
          <p:nvPr/>
        </p:nvSpPr>
        <p:spPr>
          <a:xfrm>
            <a:off x="1017315" y="3049042"/>
            <a:ext cx="7511653" cy="154409"/>
          </a:xfrm>
          <a:prstGeom prst="rect">
            <a:avLst/>
          </a:prstGeom>
          <a:noFill/>
          <a:ln/>
        </p:spPr>
        <p:txBody>
          <a:bodyPr wrap="none" lIns="0" tIns="0" rIns="0" bIns="0" rtlCol="0" anchor="t"/>
          <a:lstStyle/>
          <a:p>
            <a:pPr marL="0" indent="0" algn="l">
              <a:lnSpc>
                <a:spcPct val="123000"/>
              </a:lnSpc>
              <a:buNone/>
            </a:pPr>
            <a:r>
              <a:rPr lang="en-US" sz="800" dirty="0">
                <a:solidFill>
                  <a:srgbClr val="454240"/>
                </a:solidFill>
                <a:latin typeface="DM Sans" pitchFamily="34" charset="0"/>
                <a:ea typeface="DM Sans" pitchFamily="34" charset="-122"/>
                <a:cs typeface="DM Sans" pitchFamily="34" charset="-120"/>
              </a:rPr>
              <a:t>Use Amazon API Gateway to expose clean RESTful endpoints that route incoming requests to the appropriate Lambda functions.</a:t>
            </a:r>
            <a:endParaRPr lang="en-US" sz="800" dirty="0"/>
          </a:p>
        </p:txBody>
      </p:sp>
      <p:pic>
        <p:nvPicPr>
          <p:cNvPr id="16"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496119" y="3429893"/>
            <a:ext cx="8151763" cy="627980"/>
          </a:xfrm>
          <a:prstGeom prst="rect">
            <a:avLst/>
          </a:prstGeom>
        </p:spPr>
      </p:pic>
      <p:sp>
        <p:nvSpPr>
          <p:cNvPr id="17" name="Text 11"/>
          <p:cNvSpPr/>
          <p:nvPr/>
        </p:nvSpPr>
        <p:spPr>
          <a:xfrm>
            <a:off x="638845" y="3645768"/>
            <a:ext cx="156939" cy="196230"/>
          </a:xfrm>
          <a:prstGeom prst="rect">
            <a:avLst/>
          </a:prstGeom>
          <a:noFill/>
          <a:ln/>
        </p:spPr>
        <p:txBody>
          <a:bodyPr wrap="none" lIns="0" tIns="0" rIns="0" bIns="0" rtlCol="0" anchor="ctr"/>
          <a:lstStyle/>
          <a:p>
            <a:pPr marL="0" indent="0" algn="ctr">
              <a:lnSpc>
                <a:spcPct val="100000"/>
              </a:lnSpc>
              <a:buNone/>
            </a:pPr>
            <a:r>
              <a:rPr lang="en-US" sz="1200" dirty="0">
                <a:solidFill>
                  <a:srgbClr val="454240"/>
                </a:solidFill>
                <a:latin typeface="Libre Baskerville" pitchFamily="34" charset="0"/>
                <a:ea typeface="Libre Baskerville" pitchFamily="34" charset="-122"/>
                <a:cs typeface="Libre Baskerville" pitchFamily="34" charset="-120"/>
              </a:rPr>
              <a:t>4</a:t>
            </a:r>
            <a:endParaRPr lang="en-US" sz="1200" dirty="0"/>
          </a:p>
        </p:txBody>
      </p:sp>
      <p:sp>
        <p:nvSpPr>
          <p:cNvPr id="18" name="Text 12"/>
          <p:cNvSpPr/>
          <p:nvPr/>
        </p:nvSpPr>
        <p:spPr>
          <a:xfrm>
            <a:off x="1017315" y="3548807"/>
            <a:ext cx="7511653" cy="163488"/>
          </a:xfrm>
          <a:prstGeom prst="rect">
            <a:avLst/>
          </a:prstGeom>
          <a:noFill/>
          <a:ln/>
        </p:spPr>
        <p:txBody>
          <a:bodyPr wrap="none" lIns="0" tIns="0" rIns="0" bIns="0" rtlCol="0" anchor="t"/>
          <a:lstStyle/>
          <a:p>
            <a:pPr marL="0" indent="0" algn="l">
              <a:lnSpc>
                <a:spcPct val="104000"/>
              </a:lnSpc>
              <a:buNone/>
            </a:pPr>
            <a:r>
              <a:rPr lang="en-US" sz="1000" dirty="0">
                <a:solidFill>
                  <a:srgbClr val="454240"/>
                </a:solidFill>
                <a:latin typeface="Libre Baskerville" pitchFamily="34" charset="0"/>
                <a:ea typeface="Libre Baskerville" pitchFamily="34" charset="-122"/>
                <a:cs typeface="Libre Baskerville" pitchFamily="34" charset="-120"/>
              </a:rPr>
              <a:t>Secure Data Storage</a:t>
            </a:r>
            <a:endParaRPr lang="en-US" sz="1000" dirty="0"/>
          </a:p>
        </p:txBody>
      </p:sp>
      <p:sp>
        <p:nvSpPr>
          <p:cNvPr id="19" name="Text 13"/>
          <p:cNvSpPr/>
          <p:nvPr/>
        </p:nvSpPr>
        <p:spPr>
          <a:xfrm>
            <a:off x="1017315" y="3765277"/>
            <a:ext cx="7511653" cy="154409"/>
          </a:xfrm>
          <a:prstGeom prst="rect">
            <a:avLst/>
          </a:prstGeom>
          <a:noFill/>
          <a:ln/>
        </p:spPr>
        <p:txBody>
          <a:bodyPr wrap="none" lIns="0" tIns="0" rIns="0" bIns="0" rtlCol="0" anchor="t"/>
          <a:lstStyle/>
          <a:p>
            <a:pPr>
              <a:lnSpc>
                <a:spcPct val="123000"/>
              </a:lnSpc>
            </a:pPr>
            <a:r>
              <a:rPr lang="en-US" sz="800" dirty="0"/>
              <a:t>Stored shared text securely in </a:t>
            </a:r>
            <a:r>
              <a:rPr lang="en-US" sz="800" dirty="0" err="1"/>
              <a:t>MongoDB</a:t>
            </a:r>
            <a:r>
              <a:rPr lang="en-US" sz="800" dirty="0"/>
              <a:t> Atlas using a protected database connection, while IAM securely manages Lambda permissions for AWS services.</a:t>
            </a:r>
          </a:p>
        </p:txBody>
      </p:sp>
      <p:pic>
        <p:nvPicPr>
          <p:cNvPr id="20" name="Image 4" descr="preencoded.png"/>
          <p:cNvPicPr>
            <a:picLocks noChangeAspect="1"/>
          </p:cNvPicPr>
          <p:nvPr/>
        </p:nvPicPr>
        <p:blipFill>
          <a:blip r:embed="rId3">
            <a:extLst>
              <a:ext uri="{96DAC541-7B7A-43D3-8B79-37D633B846F1}">
                <asvg:svgBlip xmlns:asvg="http://schemas.microsoft.com/office/drawing/2016/SVG/main" xmlns="" r:embed="rId10"/>
              </a:ext>
            </a:extLst>
          </a:blip>
          <a:stretch>
            <a:fillRect/>
          </a:stretch>
        </p:blipFill>
        <p:spPr>
          <a:xfrm>
            <a:off x="496119" y="4146128"/>
            <a:ext cx="8151763" cy="627980"/>
          </a:xfrm>
          <a:prstGeom prst="rect">
            <a:avLst/>
          </a:prstGeom>
        </p:spPr>
      </p:pic>
      <p:sp>
        <p:nvSpPr>
          <p:cNvPr id="21" name="Text 14"/>
          <p:cNvSpPr/>
          <p:nvPr/>
        </p:nvSpPr>
        <p:spPr>
          <a:xfrm>
            <a:off x="638845" y="4362004"/>
            <a:ext cx="156939" cy="196230"/>
          </a:xfrm>
          <a:prstGeom prst="rect">
            <a:avLst/>
          </a:prstGeom>
          <a:noFill/>
          <a:ln/>
        </p:spPr>
        <p:txBody>
          <a:bodyPr wrap="none" lIns="0" tIns="0" rIns="0" bIns="0" rtlCol="0" anchor="ctr"/>
          <a:lstStyle/>
          <a:p>
            <a:pPr marL="0" indent="0" algn="ctr">
              <a:lnSpc>
                <a:spcPct val="100000"/>
              </a:lnSpc>
              <a:buNone/>
            </a:pPr>
            <a:r>
              <a:rPr lang="en-US" sz="1200" dirty="0">
                <a:solidFill>
                  <a:srgbClr val="454240"/>
                </a:solidFill>
                <a:latin typeface="Libre Baskerville" pitchFamily="34" charset="0"/>
                <a:ea typeface="Libre Baskerville" pitchFamily="34" charset="-122"/>
                <a:cs typeface="Libre Baskerville" pitchFamily="34" charset="-120"/>
              </a:rPr>
              <a:t>5</a:t>
            </a:r>
            <a:endParaRPr lang="en-US" sz="1200" dirty="0"/>
          </a:p>
        </p:txBody>
      </p:sp>
      <p:sp>
        <p:nvSpPr>
          <p:cNvPr id="22" name="Text 15"/>
          <p:cNvSpPr/>
          <p:nvPr/>
        </p:nvSpPr>
        <p:spPr>
          <a:xfrm>
            <a:off x="1017315" y="4265042"/>
            <a:ext cx="7511653" cy="163488"/>
          </a:xfrm>
          <a:prstGeom prst="rect">
            <a:avLst/>
          </a:prstGeom>
          <a:noFill/>
          <a:ln/>
        </p:spPr>
        <p:txBody>
          <a:bodyPr wrap="none" lIns="0" tIns="0" rIns="0" bIns="0" rtlCol="0" anchor="t"/>
          <a:lstStyle/>
          <a:p>
            <a:pPr marL="0" indent="0" algn="l">
              <a:lnSpc>
                <a:spcPct val="104000"/>
              </a:lnSpc>
              <a:buNone/>
            </a:pPr>
            <a:r>
              <a:rPr lang="en-US" sz="1000" dirty="0">
                <a:solidFill>
                  <a:srgbClr val="454240"/>
                </a:solidFill>
                <a:latin typeface="Libre Baskerville" pitchFamily="34" charset="0"/>
                <a:ea typeface="Libre Baskerville" pitchFamily="34" charset="-122"/>
                <a:cs typeface="Libre Baskerville" pitchFamily="34" charset="-120"/>
              </a:rPr>
              <a:t>Monitor with CloudWatch</a:t>
            </a:r>
            <a:endParaRPr lang="en-US" sz="1000" dirty="0"/>
          </a:p>
        </p:txBody>
      </p:sp>
      <p:sp>
        <p:nvSpPr>
          <p:cNvPr id="23" name="Text 16"/>
          <p:cNvSpPr/>
          <p:nvPr/>
        </p:nvSpPr>
        <p:spPr>
          <a:xfrm>
            <a:off x="1017315" y="4481513"/>
            <a:ext cx="7511653" cy="154409"/>
          </a:xfrm>
          <a:prstGeom prst="rect">
            <a:avLst/>
          </a:prstGeom>
          <a:noFill/>
          <a:ln/>
        </p:spPr>
        <p:txBody>
          <a:bodyPr wrap="none" lIns="0" tIns="0" rIns="0" bIns="0" rtlCol="0" anchor="t"/>
          <a:lstStyle/>
          <a:p>
            <a:pPr marL="0" indent="0" algn="l">
              <a:lnSpc>
                <a:spcPct val="123000"/>
              </a:lnSpc>
              <a:buNone/>
            </a:pPr>
            <a:r>
              <a:rPr lang="en-US" sz="800" dirty="0">
                <a:solidFill>
                  <a:srgbClr val="454240"/>
                </a:solidFill>
                <a:latin typeface="DM Sans" pitchFamily="34" charset="0"/>
                <a:ea typeface="DM Sans" pitchFamily="34" charset="-122"/>
                <a:cs typeface="DM Sans" pitchFamily="34" charset="-120"/>
              </a:rPr>
              <a:t>Automatically capture execution logs, track performance metrics, and set up alarms for operational visibility.</a:t>
            </a:r>
            <a:endParaRPr lang="en-US"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5C4E3D"/>
                </a:solidFill>
                <a:latin typeface="Libre Baskerville" pitchFamily="34" charset="0"/>
                <a:ea typeface="Libre Baskerville" pitchFamily="34" charset="-122"/>
                <a:cs typeface="Libre Baskerville" pitchFamily="34" charset="-120"/>
              </a:rPr>
              <a:t>System Architecture</a:t>
            </a:r>
            <a:endParaRPr lang="en-US" sz="1200" dirty="0"/>
          </a:p>
        </p:txBody>
      </p:sp>
      <p:sp>
        <p:nvSpPr>
          <p:cNvPr id="3" name="Text 1"/>
          <p:cNvSpPr/>
          <p:nvPr/>
        </p:nvSpPr>
        <p:spPr>
          <a:xfrm>
            <a:off x="496119" y="596950"/>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454240"/>
                </a:solidFill>
                <a:latin typeface="DM Sans" pitchFamily="34" charset="0"/>
                <a:ea typeface="DM Sans" pitchFamily="34" charset="-122"/>
                <a:cs typeface="DM Sans" pitchFamily="34" charset="-120"/>
              </a:rPr>
              <a:t>QuickShare follows a fully serverless architecture. The React.js frontend hosted on Amazon S3 communicates with backend services through API Gateway and Lambda, with data persisted in MongoDB Atlas and all execution monitored by CloudWatch.</a:t>
            </a:r>
            <a:endParaRPr lang="en-US" sz="450" dirty="0"/>
          </a:p>
        </p:txBody>
      </p:sp>
      <p:pic>
        <p:nvPicPr>
          <p:cNvPr id="4" name="Image 0" descr="preencoded.png"/>
          <p:cNvPicPr>
            <a:picLocks noChangeAspect="1"/>
          </p:cNvPicPr>
          <p:nvPr/>
        </p:nvPicPr>
        <p:blipFill>
          <a:blip r:embed="rId3"/>
          <a:stretch>
            <a:fillRect/>
          </a:stretch>
        </p:blipFill>
        <p:spPr>
          <a:xfrm>
            <a:off x="496119" y="706115"/>
            <a:ext cx="7315200" cy="4114800"/>
          </a:xfrm>
          <a:prstGeom prst="rect">
            <a:avLst/>
          </a:prstGeom>
        </p:spPr>
      </p:pic>
      <p:sp>
        <p:nvSpPr>
          <p:cNvPr id="5" name="Text 2"/>
          <p:cNvSpPr/>
          <p:nvPr/>
        </p:nvSpPr>
        <p:spPr>
          <a:xfrm>
            <a:off x="496119" y="4855741"/>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454240"/>
                </a:solidFill>
                <a:latin typeface="DM Sans" pitchFamily="34" charset="0"/>
                <a:ea typeface="DM Sans" pitchFamily="34" charset="-122"/>
                <a:cs typeface="DM Sans" pitchFamily="34" charset="-120"/>
              </a:rPr>
              <a:t>This architecture ensures zero server management, automatic scaling, and pay-per-use billing — making it ideal for applications with variable traffic patterns.</a:t>
            </a:r>
            <a:endParaRPr lang="en-US" sz="4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48332"/>
            <a:ext cx="8151763" cy="284634"/>
          </a:xfrm>
          <a:prstGeom prst="rect">
            <a:avLst/>
          </a:prstGeom>
          <a:noFill/>
          <a:ln/>
        </p:spPr>
        <p:txBody>
          <a:bodyPr wrap="none" lIns="0" tIns="0" rIns="0" bIns="0" rtlCol="0" anchor="t"/>
          <a:lstStyle/>
          <a:p>
            <a:pPr marL="0" indent="0" algn="l">
              <a:lnSpc>
                <a:spcPct val="104000"/>
              </a:lnSpc>
              <a:buNone/>
            </a:pPr>
            <a:r>
              <a:rPr lang="en-US" sz="1750" dirty="0">
                <a:solidFill>
                  <a:srgbClr val="5C4E3D"/>
                </a:solidFill>
                <a:latin typeface="Libre Baskerville" pitchFamily="34" charset="0"/>
                <a:ea typeface="Libre Baskerville" pitchFamily="34" charset="-122"/>
                <a:cs typeface="Libre Baskerville" pitchFamily="34" charset="-120"/>
              </a:rPr>
              <a:t>How QuickShare Works</a:t>
            </a:r>
            <a:endParaRPr lang="en-US" sz="1750" dirty="0"/>
          </a:p>
        </p:txBody>
      </p:sp>
      <p:sp>
        <p:nvSpPr>
          <p:cNvPr id="3" name="Text 1"/>
          <p:cNvSpPr/>
          <p:nvPr/>
        </p:nvSpPr>
        <p:spPr>
          <a:xfrm>
            <a:off x="496119" y="766762"/>
            <a:ext cx="8608963" cy="126355"/>
          </a:xfrm>
          <a:prstGeom prst="rect">
            <a:avLst/>
          </a:prstGeom>
          <a:noFill/>
          <a:ln/>
        </p:spPr>
        <p:txBody>
          <a:bodyPr wrap="none" lIns="0" tIns="0" rIns="0" bIns="0" rtlCol="0" anchor="t"/>
          <a:lstStyle/>
          <a:p>
            <a:pPr marL="0" indent="0" algn="l">
              <a:lnSpc>
                <a:spcPct val="116000"/>
              </a:lnSpc>
              <a:buNone/>
            </a:pPr>
            <a:r>
              <a:rPr lang="en-US" sz="700" dirty="0">
                <a:solidFill>
                  <a:srgbClr val="454240"/>
                </a:solidFill>
                <a:latin typeface="DM Sans" pitchFamily="34" charset="0"/>
                <a:ea typeface="DM Sans" pitchFamily="34" charset="-122"/>
                <a:cs typeface="DM Sans" pitchFamily="34" charset="-120"/>
              </a:rPr>
              <a:t>The user workflow is streamlined and intuitive, with all heavy lifting handled by AWS serverless services behind the scenes.</a:t>
            </a:r>
            <a:endParaRPr lang="en-US" sz="700" dirty="0"/>
          </a:p>
        </p:txBody>
      </p:sp>
      <p:pic>
        <p:nvPicPr>
          <p:cNvPr id="4" name="Image 0" descr="preencoded.png"/>
          <p:cNvPicPr>
            <a:picLocks noChangeAspect="1"/>
          </p:cNvPicPr>
          <p:nvPr/>
        </p:nvPicPr>
        <p:blipFill>
          <a:blip r:embed="rId3"/>
          <a:stretch>
            <a:fillRect/>
          </a:stretch>
        </p:blipFill>
        <p:spPr>
          <a:xfrm>
            <a:off x="626641" y="968350"/>
            <a:ext cx="7890644" cy="2960936"/>
          </a:xfrm>
          <a:prstGeom prst="rect">
            <a:avLst/>
          </a:prstGeom>
        </p:spPr>
      </p:pic>
      <p:sp>
        <p:nvSpPr>
          <p:cNvPr id="5" name="Text 2"/>
          <p:cNvSpPr/>
          <p:nvPr/>
        </p:nvSpPr>
        <p:spPr>
          <a:xfrm>
            <a:off x="7002209" y="3095858"/>
            <a:ext cx="1190147" cy="458532"/>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54240"/>
                </a:solidFill>
                <a:latin typeface="Libre Baskerville" pitchFamily="34" charset="0"/>
                <a:ea typeface="Libre Baskerville" pitchFamily="34" charset="-122"/>
                <a:cs typeface="Libre Baskerville" pitchFamily="34" charset="-120"/>
              </a:rPr>
              <a:t>Return Code</a:t>
            </a:r>
            <a:endParaRPr lang="en-US" sz="1400" dirty="0"/>
          </a:p>
        </p:txBody>
      </p:sp>
      <p:sp>
        <p:nvSpPr>
          <p:cNvPr id="6" name="Text 3"/>
          <p:cNvSpPr/>
          <p:nvPr/>
        </p:nvSpPr>
        <p:spPr>
          <a:xfrm>
            <a:off x="5502299" y="3095858"/>
            <a:ext cx="1190146" cy="458532"/>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54240"/>
                </a:solidFill>
                <a:latin typeface="Libre Baskerville" pitchFamily="34" charset="0"/>
                <a:ea typeface="Libre Baskerville" pitchFamily="34" charset="-122"/>
                <a:cs typeface="Libre Baskerville" pitchFamily="34" charset="-120"/>
              </a:rPr>
              <a:t>Lambda &amp; DB</a:t>
            </a:r>
            <a:endParaRPr lang="en-US" sz="1400" dirty="0"/>
          </a:p>
        </p:txBody>
      </p:sp>
      <p:sp>
        <p:nvSpPr>
          <p:cNvPr id="7" name="Text 4"/>
          <p:cNvSpPr/>
          <p:nvPr/>
        </p:nvSpPr>
        <p:spPr>
          <a:xfrm>
            <a:off x="4010540" y="3095858"/>
            <a:ext cx="1190146" cy="458532"/>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54240"/>
                </a:solidFill>
                <a:latin typeface="Libre Baskerville" pitchFamily="34" charset="0"/>
                <a:ea typeface="Libre Baskerville" pitchFamily="34" charset="-122"/>
                <a:cs typeface="Libre Baskerville" pitchFamily="34" charset="-120"/>
              </a:rPr>
              <a:t>API Gateway</a:t>
            </a:r>
            <a:endParaRPr lang="en-US" sz="1400" dirty="0"/>
          </a:p>
        </p:txBody>
      </p:sp>
      <p:sp>
        <p:nvSpPr>
          <p:cNvPr id="8" name="Text 5"/>
          <p:cNvSpPr/>
          <p:nvPr/>
        </p:nvSpPr>
        <p:spPr>
          <a:xfrm>
            <a:off x="2518781" y="3095858"/>
            <a:ext cx="1190146" cy="458532"/>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454240"/>
                </a:solidFill>
                <a:latin typeface="Libre Baskerville" pitchFamily="34" charset="0"/>
                <a:ea typeface="Libre Baskerville" pitchFamily="34" charset="-122"/>
                <a:cs typeface="Libre Baskerville" pitchFamily="34" charset="-120"/>
              </a:rPr>
              <a:t>Enter &amp; Share</a:t>
            </a:r>
            <a:endParaRPr lang="en-US" sz="1400" dirty="0"/>
          </a:p>
        </p:txBody>
      </p:sp>
      <p:sp>
        <p:nvSpPr>
          <p:cNvPr id="9" name="Text 6"/>
          <p:cNvSpPr/>
          <p:nvPr/>
        </p:nvSpPr>
        <p:spPr>
          <a:xfrm>
            <a:off x="994415" y="3210491"/>
            <a:ext cx="1190146" cy="229266"/>
          </a:xfrm>
          <a:prstGeom prst="rect">
            <a:avLst/>
          </a:prstGeom>
          <a:noFill/>
          <a:ln/>
        </p:spPr>
        <p:txBody>
          <a:bodyPr wrap="none" lIns="0" tIns="0" rIns="0" bIns="0" rtlCol="0" anchor="t"/>
          <a:lstStyle/>
          <a:p>
            <a:pPr marL="0" indent="0" algn="ctr">
              <a:lnSpc>
                <a:spcPct val="104000"/>
              </a:lnSpc>
              <a:buNone/>
            </a:pPr>
            <a:r>
              <a:rPr lang="en-US" sz="1400" dirty="0">
                <a:solidFill>
                  <a:srgbClr val="454240"/>
                </a:solidFill>
                <a:latin typeface="Libre Baskerville" pitchFamily="34" charset="0"/>
                <a:ea typeface="Libre Baskerville" pitchFamily="34" charset="-122"/>
                <a:cs typeface="Libre Baskerville" pitchFamily="34" charset="-120"/>
              </a:rPr>
              <a:t>Open App</a:t>
            </a:r>
            <a:endParaRPr lang="en-US" sz="1400" dirty="0"/>
          </a:p>
        </p:txBody>
      </p:sp>
      <p:sp>
        <p:nvSpPr>
          <p:cNvPr id="10" name="Text 7"/>
          <p:cNvSpPr/>
          <p:nvPr/>
        </p:nvSpPr>
        <p:spPr>
          <a:xfrm>
            <a:off x="496119" y="4004518"/>
            <a:ext cx="8608963" cy="126355"/>
          </a:xfrm>
          <a:prstGeom prst="rect">
            <a:avLst/>
          </a:prstGeom>
          <a:noFill/>
          <a:ln/>
        </p:spPr>
        <p:txBody>
          <a:bodyPr wrap="none" lIns="0" tIns="0" rIns="0" bIns="0" rtlCol="0" anchor="t"/>
          <a:lstStyle/>
          <a:p>
            <a:pPr marL="0" indent="0" algn="l">
              <a:lnSpc>
                <a:spcPct val="116000"/>
              </a:lnSpc>
              <a:buNone/>
            </a:pPr>
            <a:r>
              <a:rPr lang="en-US" sz="700" dirty="0">
                <a:solidFill>
                  <a:srgbClr val="454240"/>
                </a:solidFill>
                <a:latin typeface="DM Sans" pitchFamily="34" charset="0"/>
                <a:ea typeface="DM Sans" pitchFamily="34" charset="-122"/>
                <a:cs typeface="DM Sans" pitchFamily="34" charset="-120"/>
              </a:rPr>
              <a:t>The entire round-trip — from user input to share code generation — happens in milliseconds, with Lambda automatically scaling to handle concurrent requests without any manual intervention.</a:t>
            </a:r>
            <a:endParaRPr lang="en-US" sz="700" dirty="0"/>
          </a:p>
        </p:txBody>
      </p:sp>
      <p:sp>
        <p:nvSpPr>
          <p:cNvPr id="11" name="Text 8"/>
          <p:cNvSpPr/>
          <p:nvPr/>
        </p:nvSpPr>
        <p:spPr>
          <a:xfrm>
            <a:off x="496119" y="4273004"/>
            <a:ext cx="3964781" cy="142280"/>
          </a:xfrm>
          <a:prstGeom prst="rect">
            <a:avLst/>
          </a:prstGeom>
          <a:noFill/>
          <a:ln/>
        </p:spPr>
        <p:txBody>
          <a:bodyPr wrap="none" lIns="0" tIns="0" rIns="0" bIns="0" rtlCol="0" anchor="t"/>
          <a:lstStyle/>
          <a:p>
            <a:pPr marL="0" indent="0" algn="l">
              <a:lnSpc>
                <a:spcPct val="104000"/>
              </a:lnSpc>
              <a:buNone/>
            </a:pPr>
            <a:r>
              <a:rPr lang="en-US" sz="850" dirty="0">
                <a:solidFill>
                  <a:srgbClr val="5C4E3D"/>
                </a:solidFill>
                <a:latin typeface="Libre Baskerville" pitchFamily="34" charset="0"/>
                <a:ea typeface="Libre Baskerville" pitchFamily="34" charset="-122"/>
                <a:cs typeface="Libre Baskerville" pitchFamily="34" charset="-120"/>
              </a:rPr>
              <a:t>Share Flow</a:t>
            </a:r>
            <a:endParaRPr lang="en-US" sz="850" dirty="0"/>
          </a:p>
        </p:txBody>
      </p:sp>
      <p:sp>
        <p:nvSpPr>
          <p:cNvPr id="12" name="Text 9"/>
          <p:cNvSpPr/>
          <p:nvPr/>
        </p:nvSpPr>
        <p:spPr>
          <a:xfrm>
            <a:off x="496119" y="4482182"/>
            <a:ext cx="3964781" cy="252710"/>
          </a:xfrm>
          <a:prstGeom prst="rect">
            <a:avLst/>
          </a:prstGeom>
          <a:noFill/>
          <a:ln/>
        </p:spPr>
        <p:txBody>
          <a:bodyPr wrap="square" lIns="0" tIns="0" rIns="0" bIns="0" rtlCol="0" anchor="t">
            <a:normAutofit/>
          </a:bodyPr>
          <a:lstStyle/>
          <a:p>
            <a:pPr marL="0" indent="0" algn="l">
              <a:lnSpc>
                <a:spcPct val="116000"/>
              </a:lnSpc>
              <a:buNone/>
            </a:pPr>
            <a:r>
              <a:rPr lang="en-US" sz="700" dirty="0">
                <a:solidFill>
                  <a:srgbClr val="454240"/>
                </a:solidFill>
                <a:latin typeface="DM Sans" pitchFamily="34" charset="0"/>
                <a:ea typeface="DM Sans" pitchFamily="34" charset="-122"/>
                <a:cs typeface="DM Sans" pitchFamily="34" charset="-120"/>
              </a:rPr>
              <a:t>User submits text → API Gateway → Lambda validates &amp; generates code → Data stored in MongoDB Atlas → Share code returned to UI.</a:t>
            </a:r>
            <a:endParaRPr lang="en-US" sz="700" dirty="0"/>
          </a:p>
        </p:txBody>
      </p:sp>
      <p:sp>
        <p:nvSpPr>
          <p:cNvPr id="13" name="Text 10"/>
          <p:cNvSpPr/>
          <p:nvPr/>
        </p:nvSpPr>
        <p:spPr>
          <a:xfrm>
            <a:off x="4687863" y="4273004"/>
            <a:ext cx="3964781" cy="142280"/>
          </a:xfrm>
          <a:prstGeom prst="rect">
            <a:avLst/>
          </a:prstGeom>
          <a:noFill/>
          <a:ln/>
        </p:spPr>
        <p:txBody>
          <a:bodyPr wrap="none" lIns="0" tIns="0" rIns="0" bIns="0" rtlCol="0" anchor="t"/>
          <a:lstStyle/>
          <a:p>
            <a:pPr marL="0" indent="0" algn="l">
              <a:lnSpc>
                <a:spcPct val="104000"/>
              </a:lnSpc>
              <a:buNone/>
            </a:pPr>
            <a:r>
              <a:rPr lang="en-US" sz="850" dirty="0">
                <a:solidFill>
                  <a:srgbClr val="5C4E3D"/>
                </a:solidFill>
                <a:latin typeface="Libre Baskerville" pitchFamily="34" charset="0"/>
                <a:ea typeface="Libre Baskerville" pitchFamily="34" charset="-122"/>
                <a:cs typeface="Libre Baskerville" pitchFamily="34" charset="-120"/>
              </a:rPr>
              <a:t>Retrieve Flow</a:t>
            </a:r>
            <a:endParaRPr lang="en-US" sz="850" dirty="0"/>
          </a:p>
        </p:txBody>
      </p:sp>
      <p:sp>
        <p:nvSpPr>
          <p:cNvPr id="14" name="Text 11"/>
          <p:cNvSpPr/>
          <p:nvPr/>
        </p:nvSpPr>
        <p:spPr>
          <a:xfrm>
            <a:off x="4687863" y="4482182"/>
            <a:ext cx="3964781" cy="252710"/>
          </a:xfrm>
          <a:prstGeom prst="rect">
            <a:avLst/>
          </a:prstGeom>
          <a:noFill/>
          <a:ln/>
        </p:spPr>
        <p:txBody>
          <a:bodyPr wrap="square" lIns="0" tIns="0" rIns="0" bIns="0" rtlCol="0" anchor="t">
            <a:normAutofit/>
          </a:bodyPr>
          <a:lstStyle/>
          <a:p>
            <a:pPr marL="0" indent="0" algn="l">
              <a:lnSpc>
                <a:spcPct val="116000"/>
              </a:lnSpc>
              <a:buNone/>
            </a:pPr>
            <a:r>
              <a:rPr lang="en-US" sz="700" dirty="0">
                <a:solidFill>
                  <a:srgbClr val="454240"/>
                </a:solidFill>
                <a:latin typeface="DM Sans" pitchFamily="34" charset="0"/>
                <a:ea typeface="DM Sans" pitchFamily="34" charset="-122"/>
                <a:cs typeface="DM Sans" pitchFamily="34" charset="-120"/>
              </a:rPr>
              <a:t>User enters share code → API Gateway → Lambda queries MongoDB Atlas → Content returned and displayed in the React application.</a:t>
            </a:r>
            <a:endParaRPr lang="en-US" sz="7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917451"/>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AWS Services Used</a:t>
            </a:r>
            <a:endParaRPr lang="en-US" sz="2400" dirty="0"/>
          </a:p>
        </p:txBody>
      </p:sp>
      <p:sp>
        <p:nvSpPr>
          <p:cNvPr id="3" name="Text 1"/>
          <p:cNvSpPr/>
          <p:nvPr/>
        </p:nvSpPr>
        <p:spPr>
          <a:xfrm>
            <a:off x="496119" y="155302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QuickShare integrates a carefully selected set of AWS services, each playing a distinct role in delivering a fully serverless, production-ready application.</a:t>
            </a:r>
            <a:endParaRPr lang="en-US" sz="950" dirty="0"/>
          </a:p>
        </p:txBody>
      </p:sp>
      <p:pic>
        <p:nvPicPr>
          <p:cNvPr id="4" name="Image 0" descr="preencoded.png"/>
          <p:cNvPicPr>
            <a:picLocks noChangeAspect="1"/>
          </p:cNvPicPr>
          <p:nvPr/>
        </p:nvPicPr>
        <p:blipFill>
          <a:blip r:embed="rId3"/>
          <a:stretch>
            <a:fillRect/>
          </a:stretch>
        </p:blipFill>
        <p:spPr>
          <a:xfrm>
            <a:off x="496119" y="2089472"/>
            <a:ext cx="845493" cy="522536"/>
          </a:xfrm>
          <a:prstGeom prst="rect">
            <a:avLst/>
          </a:prstGeom>
        </p:spPr>
      </p:pic>
      <p:sp>
        <p:nvSpPr>
          <p:cNvPr id="5" name="Text 2"/>
          <p:cNvSpPr/>
          <p:nvPr/>
        </p:nvSpPr>
        <p:spPr>
          <a:xfrm>
            <a:off x="496119" y="2767013"/>
            <a:ext cx="1921669"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Amazon S3</a:t>
            </a:r>
            <a:endParaRPr lang="en-US" sz="1200" dirty="0"/>
          </a:p>
        </p:txBody>
      </p:sp>
      <p:sp>
        <p:nvSpPr>
          <p:cNvPr id="6" name="Text 3"/>
          <p:cNvSpPr/>
          <p:nvPr/>
        </p:nvSpPr>
        <p:spPr>
          <a:xfrm>
            <a:off x="496119" y="3035275"/>
            <a:ext cx="1921669"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Hosts the React.js frontend as a static website. S3 provides durable, highly available object storage with configurable bucket policies for public web access.</a:t>
            </a:r>
            <a:endParaRPr lang="en-US" sz="950" dirty="0"/>
          </a:p>
        </p:txBody>
      </p:sp>
      <p:pic>
        <p:nvPicPr>
          <p:cNvPr id="7" name="Image 1" descr="preencoded.png"/>
          <p:cNvPicPr>
            <a:picLocks noChangeAspect="1"/>
          </p:cNvPicPr>
          <p:nvPr/>
        </p:nvPicPr>
        <p:blipFill>
          <a:blip r:embed="rId4"/>
          <a:stretch>
            <a:fillRect/>
          </a:stretch>
        </p:blipFill>
        <p:spPr>
          <a:xfrm>
            <a:off x="2572792" y="2089472"/>
            <a:ext cx="845493" cy="522536"/>
          </a:xfrm>
          <a:prstGeom prst="rect">
            <a:avLst/>
          </a:prstGeom>
        </p:spPr>
      </p:pic>
      <p:sp>
        <p:nvSpPr>
          <p:cNvPr id="8" name="Text 4"/>
          <p:cNvSpPr/>
          <p:nvPr/>
        </p:nvSpPr>
        <p:spPr>
          <a:xfrm>
            <a:off x="2572792" y="2767013"/>
            <a:ext cx="1921669"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Amazon API Gateway</a:t>
            </a:r>
            <a:endParaRPr lang="en-US" sz="1200" dirty="0"/>
          </a:p>
        </p:txBody>
      </p:sp>
      <p:sp>
        <p:nvSpPr>
          <p:cNvPr id="9" name="Text 5"/>
          <p:cNvSpPr/>
          <p:nvPr/>
        </p:nvSpPr>
        <p:spPr>
          <a:xfrm>
            <a:off x="2572792" y="3035275"/>
            <a:ext cx="1921669"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Manages all REST API requests, handles routing, </a:t>
            </a:r>
            <a:r>
              <a:rPr lang="en-US" sz="950" dirty="0" smtClean="0">
                <a:solidFill>
                  <a:srgbClr val="454240"/>
                </a:solidFill>
                <a:latin typeface="DM Sans" pitchFamily="34" charset="0"/>
                <a:ea typeface="DM Sans" pitchFamily="34" charset="-122"/>
                <a:cs typeface="DM Sans" pitchFamily="34" charset="-120"/>
              </a:rPr>
              <a:t>authentication, </a:t>
            </a:r>
            <a:r>
              <a:rPr lang="en-US" sz="950" dirty="0">
                <a:solidFill>
                  <a:srgbClr val="454240"/>
                </a:solidFill>
                <a:latin typeface="DM Sans" pitchFamily="34" charset="0"/>
                <a:ea typeface="DM Sans" pitchFamily="34" charset="-122"/>
                <a:cs typeface="DM Sans" pitchFamily="34" charset="-120"/>
              </a:rPr>
              <a:t>and invokes the appropriate Lambda functions in response to HTTP calls.</a:t>
            </a:r>
            <a:endParaRPr lang="en-US" sz="950" dirty="0"/>
          </a:p>
        </p:txBody>
      </p:sp>
      <p:pic>
        <p:nvPicPr>
          <p:cNvPr id="10" name="Image 2" descr="preencoded.png"/>
          <p:cNvPicPr>
            <a:picLocks noChangeAspect="1"/>
          </p:cNvPicPr>
          <p:nvPr/>
        </p:nvPicPr>
        <p:blipFill>
          <a:blip r:embed="rId5"/>
          <a:stretch>
            <a:fillRect/>
          </a:stretch>
        </p:blipFill>
        <p:spPr>
          <a:xfrm>
            <a:off x="4649465" y="2089472"/>
            <a:ext cx="845493" cy="522536"/>
          </a:xfrm>
          <a:prstGeom prst="rect">
            <a:avLst/>
          </a:prstGeom>
        </p:spPr>
      </p:pic>
      <p:sp>
        <p:nvSpPr>
          <p:cNvPr id="11" name="Text 6"/>
          <p:cNvSpPr/>
          <p:nvPr/>
        </p:nvSpPr>
        <p:spPr>
          <a:xfrm>
            <a:off x="4649465" y="2767013"/>
            <a:ext cx="1921669"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AWS Lambda</a:t>
            </a:r>
            <a:endParaRPr lang="en-US" sz="1200" dirty="0"/>
          </a:p>
        </p:txBody>
      </p:sp>
      <p:sp>
        <p:nvSpPr>
          <p:cNvPr id="12" name="Text 7"/>
          <p:cNvSpPr/>
          <p:nvPr/>
        </p:nvSpPr>
        <p:spPr>
          <a:xfrm>
            <a:off x="4649465" y="3035275"/>
            <a:ext cx="1921669"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Executes backend logic on-demand without provisioning servers. Lambda scales automatically and charges only for compute time consumed during execution.</a:t>
            </a:r>
            <a:endParaRPr lang="en-US" sz="950" dirty="0"/>
          </a:p>
        </p:txBody>
      </p:sp>
      <p:pic>
        <p:nvPicPr>
          <p:cNvPr id="13" name="Image 3" descr="preencoded.png"/>
          <p:cNvPicPr>
            <a:picLocks noChangeAspect="1"/>
          </p:cNvPicPr>
          <p:nvPr/>
        </p:nvPicPr>
        <p:blipFill>
          <a:blip r:embed="rId6"/>
          <a:stretch>
            <a:fillRect/>
          </a:stretch>
        </p:blipFill>
        <p:spPr>
          <a:xfrm>
            <a:off x="6726138" y="2089472"/>
            <a:ext cx="845567" cy="522536"/>
          </a:xfrm>
          <a:prstGeom prst="rect">
            <a:avLst/>
          </a:prstGeom>
        </p:spPr>
      </p:pic>
      <p:sp>
        <p:nvSpPr>
          <p:cNvPr id="14" name="Text 8"/>
          <p:cNvSpPr/>
          <p:nvPr/>
        </p:nvSpPr>
        <p:spPr>
          <a:xfrm>
            <a:off x="6726138" y="2767013"/>
            <a:ext cx="1921743"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Amazon CloudWatch</a:t>
            </a:r>
            <a:endParaRPr lang="en-US" sz="1200" dirty="0"/>
          </a:p>
        </p:txBody>
      </p:sp>
      <p:sp>
        <p:nvSpPr>
          <p:cNvPr id="15" name="Text 9"/>
          <p:cNvSpPr/>
          <p:nvPr/>
        </p:nvSpPr>
        <p:spPr>
          <a:xfrm>
            <a:off x="6726138" y="3035275"/>
            <a:ext cx="1921743"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Automatically captures Lambda execution logs, monitors performance metrics, and provides alarms and dashboards for operational visibility and debugging.</a:t>
            </a:r>
            <a:endParaRPr lang="en-US" sz="9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640035"/>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IAM and Security</a:t>
            </a:r>
            <a:endParaRPr lang="en-US" sz="2400" dirty="0"/>
          </a:p>
        </p:txBody>
      </p:sp>
      <p:sp>
        <p:nvSpPr>
          <p:cNvPr id="3" name="Shape 1"/>
          <p:cNvSpPr/>
          <p:nvPr/>
        </p:nvSpPr>
        <p:spPr>
          <a:xfrm>
            <a:off x="406822" y="1213619"/>
            <a:ext cx="4103191" cy="2455887"/>
          </a:xfrm>
          <a:prstGeom prst="roundRect">
            <a:avLst>
              <a:gd name="adj" fmla="val 3637"/>
            </a:avLst>
          </a:prstGeom>
          <a:solidFill>
            <a:srgbClr val="B88E23"/>
          </a:solidFill>
          <a:ln/>
        </p:spPr>
      </p:sp>
      <p:sp>
        <p:nvSpPr>
          <p:cNvPr id="4" name="Text 2"/>
          <p:cNvSpPr/>
          <p:nvPr/>
        </p:nvSpPr>
        <p:spPr>
          <a:xfrm>
            <a:off x="530796" y="1337593"/>
            <a:ext cx="3855244"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IAM Execution Role</a:t>
            </a:r>
            <a:endParaRPr lang="en-US" sz="1200" dirty="0"/>
          </a:p>
        </p:txBody>
      </p:sp>
      <p:sp>
        <p:nvSpPr>
          <p:cNvPr id="5" name="Text 3"/>
          <p:cNvSpPr/>
          <p:nvPr/>
        </p:nvSpPr>
        <p:spPr>
          <a:xfrm>
            <a:off x="530796" y="1655415"/>
            <a:ext cx="3855244"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DM Sans" pitchFamily="34" charset="0"/>
                <a:ea typeface="DM Sans" pitchFamily="34" charset="-122"/>
                <a:cs typeface="DM Sans" pitchFamily="34" charset="-120"/>
              </a:rPr>
              <a:t>An IAM execution role is attached to the Lambda function via the </a:t>
            </a:r>
            <a:r>
              <a:rPr lang="en-US" sz="950" dirty="0">
                <a:solidFill>
                  <a:srgbClr val="000000"/>
                </a:solidFill>
                <a:highlight>
                  <a:srgbClr val="AB8116"/>
                </a:highlight>
                <a:latin typeface="Consolas" pitchFamily="34" charset="0"/>
                <a:ea typeface="Consolas" pitchFamily="34" charset="-122"/>
                <a:cs typeface="Consolas" pitchFamily="34" charset="-120"/>
              </a:rPr>
              <a:t>AWSLambdaBasicExecutionRole</a:t>
            </a:r>
            <a:r>
              <a:rPr lang="en-US" sz="950" dirty="0">
                <a:solidFill>
                  <a:srgbClr val="000000"/>
                </a:solidFill>
                <a:latin typeface="DM Sans" pitchFamily="34" charset="0"/>
                <a:ea typeface="DM Sans" pitchFamily="34" charset="-122"/>
                <a:cs typeface="DM Sans" pitchFamily="34" charset="-120"/>
              </a:rPr>
              <a:t> managed policy. This grants Lambda the minimum permissions required to operate:</a:t>
            </a:r>
            <a:endParaRPr lang="en-US" sz="950" dirty="0"/>
          </a:p>
        </p:txBody>
      </p:sp>
      <p:sp>
        <p:nvSpPr>
          <p:cNvPr id="6" name="Text 4"/>
          <p:cNvSpPr/>
          <p:nvPr/>
        </p:nvSpPr>
        <p:spPr>
          <a:xfrm>
            <a:off x="530796" y="2367186"/>
            <a:ext cx="3855244" cy="682154"/>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Create CloudWatch log groups</a:t>
            </a:r>
            <a:endParaRPr lang="en-US" sz="950" dirty="0"/>
          </a:p>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Create log streams</a:t>
            </a:r>
            <a:endParaRPr lang="en-US" sz="950" dirty="0"/>
          </a:p>
          <a:p>
            <a:pPr marL="193040" indent="-193040" algn="l">
              <a:lnSpc>
                <a:spcPct val="133000"/>
              </a:lnSpc>
              <a:buSzPct val="100000"/>
              <a:buChar char="•"/>
            </a:pPr>
            <a:r>
              <a:rPr lang="en-US" sz="950" dirty="0">
                <a:solidFill>
                  <a:srgbClr val="000000"/>
                </a:solidFill>
                <a:latin typeface="DM Sans" pitchFamily="34" charset="0"/>
                <a:ea typeface="DM Sans" pitchFamily="34" charset="-122"/>
                <a:cs typeface="DM Sans" pitchFamily="34" charset="-120"/>
              </a:rPr>
              <a:t>Write execution logs to CloudWatch</a:t>
            </a:r>
            <a:endParaRPr lang="en-US" sz="950" dirty="0"/>
          </a:p>
        </p:txBody>
      </p:sp>
      <p:sp>
        <p:nvSpPr>
          <p:cNvPr id="7" name="Text 5"/>
          <p:cNvSpPr/>
          <p:nvPr/>
        </p:nvSpPr>
        <p:spPr>
          <a:xfrm>
            <a:off x="530796" y="3160961"/>
            <a:ext cx="385524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DM Sans" pitchFamily="34" charset="0"/>
                <a:ea typeface="DM Sans" pitchFamily="34" charset="-122"/>
                <a:cs typeface="DM Sans" pitchFamily="34" charset="-120"/>
              </a:rPr>
              <a:t>This follows the </a:t>
            </a:r>
            <a:r>
              <a:rPr lang="en-US" sz="950" b="1" dirty="0">
                <a:solidFill>
                  <a:srgbClr val="000000"/>
                </a:solidFill>
                <a:latin typeface="DM Sans Bold" pitchFamily="34" charset="0"/>
                <a:ea typeface="DM Sans Bold" pitchFamily="34" charset="-122"/>
                <a:cs typeface="DM Sans Bold" pitchFamily="34" charset="-120"/>
              </a:rPr>
              <a:t>principle of least privilege</a:t>
            </a:r>
            <a:r>
              <a:rPr lang="en-US" sz="950" dirty="0">
                <a:solidFill>
                  <a:srgbClr val="000000"/>
                </a:solidFill>
                <a:latin typeface="DM Sans" pitchFamily="34" charset="0"/>
                <a:ea typeface="DM Sans" pitchFamily="34" charset="-122"/>
                <a:cs typeface="DM Sans" pitchFamily="34" charset="-120"/>
              </a:rPr>
              <a:t> — Lambda only has access to what it strictly needs.</a:t>
            </a:r>
            <a:endParaRPr lang="en-US" sz="950" dirty="0"/>
          </a:p>
        </p:txBody>
      </p:sp>
      <p:sp>
        <p:nvSpPr>
          <p:cNvPr id="8" name="Text 6"/>
          <p:cNvSpPr/>
          <p:nvPr/>
        </p:nvSpPr>
        <p:spPr>
          <a:xfrm>
            <a:off x="4728046" y="1337593"/>
            <a:ext cx="3924598" cy="193849"/>
          </a:xfrm>
          <a:prstGeom prst="rect">
            <a:avLst/>
          </a:prstGeom>
          <a:noFill/>
          <a:ln/>
        </p:spPr>
        <p:txBody>
          <a:bodyPr wrap="none" lIns="0" tIns="0" rIns="0" bIns="0" rtlCol="0" anchor="t"/>
          <a:lstStyle/>
          <a:p>
            <a:pPr marL="0" indent="0" algn="l">
              <a:lnSpc>
                <a:spcPct val="104000"/>
              </a:lnSpc>
              <a:buNone/>
            </a:pPr>
            <a:r>
              <a:rPr lang="en-US" sz="1200" dirty="0">
                <a:solidFill>
                  <a:srgbClr val="5C4E3D"/>
                </a:solidFill>
                <a:latin typeface="Libre Baskerville" pitchFamily="34" charset="0"/>
                <a:ea typeface="Libre Baskerville" pitchFamily="34" charset="-122"/>
                <a:cs typeface="Libre Baskerville" pitchFamily="34" charset="-120"/>
              </a:rPr>
              <a:t>MongoDB Atlas Security</a:t>
            </a:r>
            <a:endParaRPr lang="en-US" sz="1200" dirty="0"/>
          </a:p>
        </p:txBody>
      </p:sp>
      <p:sp>
        <p:nvSpPr>
          <p:cNvPr id="9" name="Text 7"/>
          <p:cNvSpPr/>
          <p:nvPr/>
        </p:nvSpPr>
        <p:spPr>
          <a:xfrm>
            <a:off x="4728046" y="1655415"/>
            <a:ext cx="392459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Since MongoDB Atlas is an external managed database, it is not controlled by IAM. Instead, secure access is established using a </a:t>
            </a:r>
            <a:r>
              <a:rPr lang="en-US" sz="950" b="1" dirty="0">
                <a:solidFill>
                  <a:srgbClr val="454240"/>
                </a:solidFill>
                <a:latin typeface="DM Sans Bold" pitchFamily="34" charset="0"/>
                <a:ea typeface="DM Sans Bold" pitchFamily="34" charset="-122"/>
                <a:cs typeface="DM Sans Bold" pitchFamily="34" charset="-120"/>
              </a:rPr>
              <a:t>connection string</a:t>
            </a:r>
            <a:r>
              <a:rPr lang="en-US" sz="950" dirty="0">
                <a:solidFill>
                  <a:srgbClr val="454240"/>
                </a:solidFill>
                <a:latin typeface="DM Sans" pitchFamily="34" charset="0"/>
                <a:ea typeface="DM Sans" pitchFamily="34" charset="-122"/>
                <a:cs typeface="DM Sans" pitchFamily="34" charset="-120"/>
              </a:rPr>
              <a:t> containing encrypted credentials, stored safely in Lambda environment variables.</a:t>
            </a:r>
            <a:endParaRPr lang="en-US" sz="950" dirty="0"/>
          </a:p>
        </p:txBody>
      </p:sp>
      <p:sp>
        <p:nvSpPr>
          <p:cNvPr id="10" name="Text 8"/>
          <p:cNvSpPr/>
          <p:nvPr/>
        </p:nvSpPr>
        <p:spPr>
          <a:xfrm>
            <a:off x="4728046" y="2560886"/>
            <a:ext cx="3924598" cy="923999"/>
          </a:xfrm>
          <a:prstGeom prst="rect">
            <a:avLst/>
          </a:prstGeom>
          <a:noFill/>
          <a:ln/>
        </p:spPr>
        <p:txBody>
          <a:bodyPr wrap="square" lIns="0" tIns="0" rIns="0" bIns="0" rtlCol="0" anchor="t">
            <a:normAutofit/>
          </a:bodyPr>
          <a:lstStyle/>
          <a:p>
            <a:pPr marL="193040" indent="-193040" algn="l">
              <a:lnSpc>
                <a:spcPct val="133000"/>
              </a:lnSpc>
              <a:buSzPct val="100000"/>
              <a:buChar char="•"/>
            </a:pPr>
            <a:r>
              <a:rPr lang="en-US" sz="950" dirty="0">
                <a:solidFill>
                  <a:srgbClr val="454240"/>
                </a:solidFill>
                <a:latin typeface="DM Sans" pitchFamily="34" charset="0"/>
                <a:ea typeface="DM Sans" pitchFamily="34" charset="-122"/>
                <a:cs typeface="DM Sans" pitchFamily="34" charset="-120"/>
              </a:rPr>
              <a:t>TLS-encrypted connections to Atlas cluster</a:t>
            </a:r>
            <a:endParaRPr lang="en-US" sz="950" dirty="0"/>
          </a:p>
          <a:p>
            <a:pPr marL="193040" indent="-193040" algn="l">
              <a:lnSpc>
                <a:spcPct val="133000"/>
              </a:lnSpc>
              <a:buSzPct val="100000"/>
              <a:buChar char="•"/>
            </a:pPr>
            <a:r>
              <a:rPr lang="en-US" sz="950" dirty="0">
                <a:solidFill>
                  <a:srgbClr val="454240"/>
                </a:solidFill>
                <a:latin typeface="DM Sans" pitchFamily="34" charset="0"/>
                <a:ea typeface="DM Sans" pitchFamily="34" charset="-122"/>
                <a:cs typeface="DM Sans" pitchFamily="34" charset="-120"/>
              </a:rPr>
              <a:t>Credentials managed via environment variables</a:t>
            </a:r>
            <a:endParaRPr lang="en-US" sz="950" dirty="0"/>
          </a:p>
          <a:p>
            <a:pPr marL="193040" indent="-193040" algn="l">
              <a:lnSpc>
                <a:spcPct val="133000"/>
              </a:lnSpc>
              <a:buSzPct val="100000"/>
              <a:buChar char="•"/>
            </a:pPr>
            <a:r>
              <a:rPr lang="en-US" sz="950" dirty="0">
                <a:solidFill>
                  <a:srgbClr val="454240"/>
                </a:solidFill>
                <a:latin typeface="DM Sans" pitchFamily="34" charset="0"/>
                <a:ea typeface="DM Sans" pitchFamily="34" charset="-122"/>
                <a:cs typeface="DM Sans" pitchFamily="34" charset="-120"/>
              </a:rPr>
              <a:t>IP access lists restrict database access</a:t>
            </a:r>
            <a:endParaRPr lang="en-US" sz="950" dirty="0"/>
          </a:p>
          <a:p>
            <a:pPr marL="193040" indent="-193040" algn="l">
              <a:lnSpc>
                <a:spcPct val="133000"/>
              </a:lnSpc>
              <a:buSzPct val="100000"/>
              <a:buChar char="•"/>
            </a:pPr>
            <a:r>
              <a:rPr lang="en-US" sz="950" dirty="0">
                <a:solidFill>
                  <a:srgbClr val="454240"/>
                </a:solidFill>
                <a:latin typeface="DM Sans" pitchFamily="34" charset="0"/>
                <a:ea typeface="DM Sans" pitchFamily="34" charset="-122"/>
                <a:cs typeface="DM Sans" pitchFamily="34" charset="-120"/>
              </a:rPr>
              <a:t>Separate from AWS IAM permission model</a:t>
            </a:r>
            <a:endParaRPr lang="en-US" sz="950" dirty="0"/>
          </a:p>
        </p:txBody>
      </p:sp>
      <p:sp>
        <p:nvSpPr>
          <p:cNvPr id="11" name="Shape 9"/>
          <p:cNvSpPr/>
          <p:nvPr/>
        </p:nvSpPr>
        <p:spPr>
          <a:xfrm>
            <a:off x="496119" y="3809033"/>
            <a:ext cx="8151763" cy="694432"/>
          </a:xfrm>
          <a:prstGeom prst="roundRect">
            <a:avLst>
              <a:gd name="adj" fmla="val 7502"/>
            </a:avLst>
          </a:prstGeom>
          <a:solidFill>
            <a:srgbClr val="B6D6FC"/>
          </a:solidFill>
          <a:ln/>
        </p:spPr>
      </p:sp>
      <p:pic>
        <p:nvPicPr>
          <p:cNvPr id="12" name="Image 0" descr="preencoded.png"/>
          <p:cNvPicPr>
            <a:picLocks noChangeAspect="1"/>
          </p:cNvPicPr>
          <p:nvPr/>
        </p:nvPicPr>
        <p:blipFill>
          <a:blip r:embed="rId3"/>
          <a:stretch>
            <a:fillRect/>
          </a:stretch>
        </p:blipFill>
        <p:spPr>
          <a:xfrm>
            <a:off x="620092" y="3988817"/>
            <a:ext cx="155004" cy="123974"/>
          </a:xfrm>
          <a:prstGeom prst="rect">
            <a:avLst/>
          </a:prstGeom>
        </p:spPr>
      </p:pic>
      <p:sp>
        <p:nvSpPr>
          <p:cNvPr id="13" name="Text 10"/>
          <p:cNvSpPr/>
          <p:nvPr/>
        </p:nvSpPr>
        <p:spPr>
          <a:xfrm>
            <a:off x="899071" y="3963963"/>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DM Sans" pitchFamily="34" charset="0"/>
                <a:ea typeface="DM Sans" pitchFamily="34" charset="-122"/>
                <a:cs typeface="DM Sans" pitchFamily="34" charset="-120"/>
              </a:rPr>
              <a:t>IAM ensures that even if a Lambda function is compromised, the blast radius is limited to only the permissions explicitly granted by its execution role.</a:t>
            </a:r>
            <a:endParaRPr lang="en-US" sz="9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17835"/>
            <a:ext cx="8151763" cy="339179"/>
          </a:xfrm>
          <a:prstGeom prst="rect">
            <a:avLst/>
          </a:prstGeom>
          <a:noFill/>
          <a:ln/>
        </p:spPr>
        <p:txBody>
          <a:bodyPr wrap="none" lIns="0" tIns="0" rIns="0" bIns="0" rtlCol="0" anchor="t"/>
          <a:lstStyle/>
          <a:p>
            <a:pPr marL="0" indent="0" algn="l">
              <a:lnSpc>
                <a:spcPct val="104000"/>
              </a:lnSpc>
              <a:buNone/>
            </a:pPr>
            <a:r>
              <a:rPr lang="en-US" sz="2100" dirty="0">
                <a:solidFill>
                  <a:srgbClr val="5C4E3D"/>
                </a:solidFill>
                <a:latin typeface="Libre Baskerville" pitchFamily="34" charset="0"/>
                <a:ea typeface="Libre Baskerville" pitchFamily="34" charset="-122"/>
                <a:cs typeface="Libre Baskerville" pitchFamily="34" charset="-120"/>
              </a:rPr>
              <a:t>Advantages &amp; Future Enhancements</a:t>
            </a:r>
            <a:endParaRPr lang="en-US" sz="2100" dirty="0"/>
          </a:p>
        </p:txBody>
      </p:sp>
      <p:sp>
        <p:nvSpPr>
          <p:cNvPr id="3" name="Text 1"/>
          <p:cNvSpPr/>
          <p:nvPr/>
        </p:nvSpPr>
        <p:spPr>
          <a:xfrm>
            <a:off x="496119" y="994395"/>
            <a:ext cx="3943499" cy="169515"/>
          </a:xfrm>
          <a:prstGeom prst="rect">
            <a:avLst/>
          </a:prstGeom>
          <a:noFill/>
          <a:ln/>
        </p:spPr>
        <p:txBody>
          <a:bodyPr wrap="none" lIns="0" tIns="0" rIns="0" bIns="0" rtlCol="0" anchor="t"/>
          <a:lstStyle/>
          <a:p>
            <a:pPr marL="0" indent="0" algn="l">
              <a:lnSpc>
                <a:spcPct val="104000"/>
              </a:lnSpc>
              <a:buNone/>
            </a:pPr>
            <a:r>
              <a:rPr lang="en-US" sz="1050" dirty="0">
                <a:solidFill>
                  <a:srgbClr val="5C4E3D"/>
                </a:solidFill>
                <a:latin typeface="Libre Baskerville" pitchFamily="34" charset="0"/>
                <a:ea typeface="Libre Baskerville" pitchFamily="34" charset="-122"/>
                <a:cs typeface="Libre Baskerville" pitchFamily="34" charset="-120"/>
              </a:rPr>
              <a:t>Current Advantages</a:t>
            </a:r>
            <a:endParaRPr lang="en-US" sz="10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36823" y="1274006"/>
            <a:ext cx="162744" cy="162744"/>
          </a:xfrm>
          <a:prstGeom prst="rect">
            <a:avLst/>
          </a:prstGeom>
        </p:spPr>
      </p:pic>
      <p:sp>
        <p:nvSpPr>
          <p:cNvPr id="5" name="Text 2"/>
          <p:cNvSpPr/>
          <p:nvPr/>
        </p:nvSpPr>
        <p:spPr>
          <a:xfrm>
            <a:off x="848767" y="1270695"/>
            <a:ext cx="3590851" cy="169515"/>
          </a:xfrm>
          <a:prstGeom prst="rect">
            <a:avLst/>
          </a:prstGeom>
          <a:noFill/>
          <a:ln/>
        </p:spPr>
        <p:txBody>
          <a:bodyPr wrap="none" lIns="0" tIns="0" rIns="0" bIns="0" rtlCol="0" anchor="t"/>
          <a:lstStyle/>
          <a:p>
            <a:pPr marL="0" indent="0" algn="l">
              <a:lnSpc>
                <a:spcPct val="104000"/>
              </a:lnSpc>
              <a:buNone/>
            </a:pPr>
            <a:r>
              <a:rPr lang="en-US" sz="1050" dirty="0">
                <a:solidFill>
                  <a:srgbClr val="454240"/>
                </a:solidFill>
                <a:latin typeface="Libre Baskerville" pitchFamily="34" charset="0"/>
                <a:ea typeface="Libre Baskerville" pitchFamily="34" charset="-122"/>
                <a:cs typeface="Libre Baskerville" pitchFamily="34" charset="-120"/>
              </a:rPr>
              <a:t>Automatic Scaling</a:t>
            </a:r>
            <a:endParaRPr lang="en-US" sz="1050" dirty="0"/>
          </a:p>
        </p:txBody>
      </p:sp>
      <p:sp>
        <p:nvSpPr>
          <p:cNvPr id="6" name="Text 3"/>
          <p:cNvSpPr/>
          <p:nvPr/>
        </p:nvSpPr>
        <p:spPr>
          <a:xfrm>
            <a:off x="848767" y="1535162"/>
            <a:ext cx="3590851"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AWS Lambda scales instantly to handle any volume of requests without manual intervention.</a:t>
            </a:r>
            <a:endParaRPr lang="en-US" sz="8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536823" y="2054014"/>
            <a:ext cx="162744" cy="162744"/>
          </a:xfrm>
          <a:prstGeom prst="rect">
            <a:avLst/>
          </a:prstGeom>
        </p:spPr>
      </p:pic>
      <p:sp>
        <p:nvSpPr>
          <p:cNvPr id="8" name="Text 4"/>
          <p:cNvSpPr/>
          <p:nvPr/>
        </p:nvSpPr>
        <p:spPr>
          <a:xfrm>
            <a:off x="848767" y="2050703"/>
            <a:ext cx="3590851" cy="169515"/>
          </a:xfrm>
          <a:prstGeom prst="rect">
            <a:avLst/>
          </a:prstGeom>
          <a:noFill/>
          <a:ln/>
        </p:spPr>
        <p:txBody>
          <a:bodyPr wrap="none" lIns="0" tIns="0" rIns="0" bIns="0" rtlCol="0" anchor="t"/>
          <a:lstStyle/>
          <a:p>
            <a:pPr marL="0" indent="0" algn="l">
              <a:lnSpc>
                <a:spcPct val="104000"/>
              </a:lnSpc>
              <a:buNone/>
            </a:pPr>
            <a:r>
              <a:rPr lang="en-US" sz="1050" dirty="0">
                <a:solidFill>
                  <a:srgbClr val="454240"/>
                </a:solidFill>
                <a:latin typeface="Libre Baskerville" pitchFamily="34" charset="0"/>
                <a:ea typeface="Libre Baskerville" pitchFamily="34" charset="-122"/>
                <a:cs typeface="Libre Baskerville" pitchFamily="34" charset="-120"/>
              </a:rPr>
              <a:t>Pay-Per-Use Pricing</a:t>
            </a:r>
            <a:endParaRPr lang="en-US" sz="1050" dirty="0"/>
          </a:p>
        </p:txBody>
      </p:sp>
      <p:sp>
        <p:nvSpPr>
          <p:cNvPr id="9" name="Text 5"/>
          <p:cNvSpPr/>
          <p:nvPr/>
        </p:nvSpPr>
        <p:spPr>
          <a:xfrm>
            <a:off x="848767" y="2315170"/>
            <a:ext cx="3590851"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Costs are incurred only when functions execute — idle time is completely free.</a:t>
            </a:r>
            <a:endParaRPr lang="en-US" sz="8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536823" y="2834022"/>
            <a:ext cx="162744" cy="162744"/>
          </a:xfrm>
          <a:prstGeom prst="rect">
            <a:avLst/>
          </a:prstGeom>
        </p:spPr>
      </p:pic>
      <p:sp>
        <p:nvSpPr>
          <p:cNvPr id="11" name="Text 6"/>
          <p:cNvSpPr/>
          <p:nvPr/>
        </p:nvSpPr>
        <p:spPr>
          <a:xfrm>
            <a:off x="848767" y="2830711"/>
            <a:ext cx="3590851" cy="169515"/>
          </a:xfrm>
          <a:prstGeom prst="rect">
            <a:avLst/>
          </a:prstGeom>
          <a:noFill/>
          <a:ln/>
        </p:spPr>
        <p:txBody>
          <a:bodyPr wrap="none" lIns="0" tIns="0" rIns="0" bIns="0" rtlCol="0" anchor="t"/>
          <a:lstStyle/>
          <a:p>
            <a:pPr marL="0" indent="0" algn="l">
              <a:lnSpc>
                <a:spcPct val="104000"/>
              </a:lnSpc>
              <a:buNone/>
            </a:pPr>
            <a:r>
              <a:rPr lang="en-US" sz="1050" dirty="0">
                <a:solidFill>
                  <a:srgbClr val="454240"/>
                </a:solidFill>
                <a:latin typeface="Libre Baskerville" pitchFamily="34" charset="0"/>
                <a:ea typeface="Libre Baskerville" pitchFamily="34" charset="-122"/>
                <a:cs typeface="Libre Baskerville" pitchFamily="34" charset="-120"/>
              </a:rPr>
              <a:t>Zero Server Management</a:t>
            </a:r>
            <a:endParaRPr lang="en-US" sz="1050" dirty="0"/>
          </a:p>
        </p:txBody>
      </p:sp>
      <p:sp>
        <p:nvSpPr>
          <p:cNvPr id="12" name="Text 7"/>
          <p:cNvSpPr/>
          <p:nvPr/>
        </p:nvSpPr>
        <p:spPr>
          <a:xfrm>
            <a:off x="848767" y="3095179"/>
            <a:ext cx="3590851"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AWS handles provisioning, patching, and availability — freeing developer focus for features.</a:t>
            </a:r>
            <a:endParaRPr lang="en-US" sz="85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536823" y="3614031"/>
            <a:ext cx="162744" cy="162744"/>
          </a:xfrm>
          <a:prstGeom prst="rect">
            <a:avLst/>
          </a:prstGeom>
        </p:spPr>
      </p:pic>
      <p:sp>
        <p:nvSpPr>
          <p:cNvPr id="14" name="Text 8"/>
          <p:cNvSpPr/>
          <p:nvPr/>
        </p:nvSpPr>
        <p:spPr>
          <a:xfrm>
            <a:off x="848767" y="3610719"/>
            <a:ext cx="3590851" cy="169515"/>
          </a:xfrm>
          <a:prstGeom prst="rect">
            <a:avLst/>
          </a:prstGeom>
          <a:noFill/>
          <a:ln/>
        </p:spPr>
        <p:txBody>
          <a:bodyPr wrap="none" lIns="0" tIns="0" rIns="0" bIns="0" rtlCol="0" anchor="t"/>
          <a:lstStyle/>
          <a:p>
            <a:pPr marL="0" indent="0" algn="l">
              <a:lnSpc>
                <a:spcPct val="104000"/>
              </a:lnSpc>
              <a:buNone/>
            </a:pPr>
            <a:r>
              <a:rPr lang="en-US" sz="1050" dirty="0">
                <a:solidFill>
                  <a:srgbClr val="454240"/>
                </a:solidFill>
                <a:latin typeface="Libre Baskerville" pitchFamily="34" charset="0"/>
                <a:ea typeface="Libre Baskerville" pitchFamily="34" charset="-122"/>
                <a:cs typeface="Libre Baskerville" pitchFamily="34" charset="-120"/>
              </a:rPr>
              <a:t>High Availability</a:t>
            </a:r>
            <a:endParaRPr lang="en-US" sz="1050" dirty="0"/>
          </a:p>
        </p:txBody>
      </p:sp>
      <p:sp>
        <p:nvSpPr>
          <p:cNvPr id="15" name="Text 9"/>
          <p:cNvSpPr/>
          <p:nvPr/>
        </p:nvSpPr>
        <p:spPr>
          <a:xfrm>
            <a:off x="848767" y="3875187"/>
            <a:ext cx="3590851"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Built-in redundancy across AWS Availability Zones ensures reliable uptime.</a:t>
            </a:r>
            <a:endParaRPr lang="en-US" sz="850" dirty="0"/>
          </a:p>
        </p:txBody>
      </p:sp>
      <p:sp>
        <p:nvSpPr>
          <p:cNvPr id="16" name="Text 10"/>
          <p:cNvSpPr/>
          <p:nvPr/>
        </p:nvSpPr>
        <p:spPr>
          <a:xfrm>
            <a:off x="4709145" y="994395"/>
            <a:ext cx="3943499" cy="169515"/>
          </a:xfrm>
          <a:prstGeom prst="rect">
            <a:avLst/>
          </a:prstGeom>
          <a:noFill/>
          <a:ln/>
        </p:spPr>
        <p:txBody>
          <a:bodyPr wrap="none" lIns="0" tIns="0" rIns="0" bIns="0" rtlCol="0" anchor="t"/>
          <a:lstStyle/>
          <a:p>
            <a:pPr marL="0" indent="0" algn="l">
              <a:lnSpc>
                <a:spcPct val="104000"/>
              </a:lnSpc>
              <a:buNone/>
            </a:pPr>
            <a:r>
              <a:rPr lang="en-US" sz="1050" dirty="0">
                <a:solidFill>
                  <a:srgbClr val="5C4E3D"/>
                </a:solidFill>
                <a:latin typeface="Libre Baskerville" pitchFamily="34" charset="0"/>
                <a:ea typeface="Libre Baskerville" pitchFamily="34" charset="-122"/>
                <a:cs typeface="Libre Baskerville" pitchFamily="34" charset="-120"/>
              </a:rPr>
              <a:t>Future Enhancements</a:t>
            </a:r>
            <a:endParaRPr lang="en-US" sz="1050" dirty="0"/>
          </a:p>
        </p:txBody>
      </p:sp>
      <p:sp>
        <p:nvSpPr>
          <p:cNvPr id="17" name="Shape 11"/>
          <p:cNvSpPr/>
          <p:nvPr/>
        </p:nvSpPr>
        <p:spPr>
          <a:xfrm>
            <a:off x="4709145" y="1270695"/>
            <a:ext cx="1924273" cy="998488"/>
          </a:xfrm>
          <a:prstGeom prst="roundRect">
            <a:avLst>
              <a:gd name="adj" fmla="val 4566"/>
            </a:avLst>
          </a:prstGeom>
          <a:solidFill>
            <a:srgbClr val="FFFDFA"/>
          </a:solidFill>
          <a:ln w="14288">
            <a:solidFill>
              <a:srgbClr val="DDD3BA"/>
            </a:solidFill>
            <a:prstDash val="solid"/>
          </a:ln>
        </p:spPr>
      </p:sp>
      <p:sp>
        <p:nvSpPr>
          <p:cNvPr id="18" name="Text 12"/>
          <p:cNvSpPr/>
          <p:nvPr/>
        </p:nvSpPr>
        <p:spPr>
          <a:xfrm>
            <a:off x="4831928" y="1393478"/>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a:t>
            </a:r>
            <a:r>
              <a:rPr lang="en-US" sz="1050" dirty="0">
                <a:solidFill>
                  <a:srgbClr val="454240"/>
                </a:solidFill>
                <a:latin typeface="Libre Baskerville" pitchFamily="34" charset="0"/>
                <a:ea typeface="Libre Baskerville" pitchFamily="34" charset="-122"/>
                <a:cs typeface="Libre Baskerville" pitchFamily="34" charset="-120"/>
              </a:rPr>
              <a:t> User Authentication</a:t>
            </a:r>
            <a:endParaRPr lang="en-US" sz="1050" dirty="0"/>
          </a:p>
        </p:txBody>
      </p:sp>
      <p:sp>
        <p:nvSpPr>
          <p:cNvPr id="19" name="Text 13"/>
          <p:cNvSpPr/>
          <p:nvPr/>
        </p:nvSpPr>
        <p:spPr>
          <a:xfrm>
            <a:off x="4831928" y="1657945"/>
            <a:ext cx="1678707" cy="488454"/>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Integrate Amazon Cognito for secure user sign-up, login, and session management.</a:t>
            </a:r>
            <a:endParaRPr lang="en-US" sz="850" dirty="0"/>
          </a:p>
        </p:txBody>
      </p:sp>
      <p:sp>
        <p:nvSpPr>
          <p:cNvPr id="20" name="Shape 14"/>
          <p:cNvSpPr/>
          <p:nvPr/>
        </p:nvSpPr>
        <p:spPr>
          <a:xfrm>
            <a:off x="6728371" y="1270695"/>
            <a:ext cx="1924273" cy="998488"/>
          </a:xfrm>
          <a:prstGeom prst="roundRect">
            <a:avLst>
              <a:gd name="adj" fmla="val 4566"/>
            </a:avLst>
          </a:prstGeom>
          <a:solidFill>
            <a:srgbClr val="FFFDFA"/>
          </a:solidFill>
          <a:ln w="14288">
            <a:solidFill>
              <a:srgbClr val="DDD3BA"/>
            </a:solidFill>
            <a:prstDash val="solid"/>
          </a:ln>
        </p:spPr>
      </p:sp>
      <p:sp>
        <p:nvSpPr>
          <p:cNvPr id="21" name="Text 15"/>
          <p:cNvSpPr/>
          <p:nvPr/>
        </p:nvSpPr>
        <p:spPr>
          <a:xfrm>
            <a:off x="6851154" y="1393478"/>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a:t>
            </a:r>
            <a:r>
              <a:rPr lang="en-US" sz="1050" dirty="0">
                <a:solidFill>
                  <a:srgbClr val="454240"/>
                </a:solidFill>
                <a:latin typeface="Libre Baskerville" pitchFamily="34" charset="0"/>
                <a:ea typeface="Libre Baskerville" pitchFamily="34" charset="-122"/>
                <a:cs typeface="Libre Baskerville" pitchFamily="34" charset="-120"/>
              </a:rPr>
              <a:t> File Sharing</a:t>
            </a:r>
            <a:endParaRPr lang="en-US" sz="1050" dirty="0"/>
          </a:p>
        </p:txBody>
      </p:sp>
      <p:sp>
        <p:nvSpPr>
          <p:cNvPr id="22" name="Text 16"/>
          <p:cNvSpPr/>
          <p:nvPr/>
        </p:nvSpPr>
        <p:spPr>
          <a:xfrm>
            <a:off x="6851154" y="1657945"/>
            <a:ext cx="1678707" cy="488454"/>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Extend support beyond text to allow secure file uploads via S3 presigned URLs.</a:t>
            </a:r>
            <a:endParaRPr lang="en-US" sz="850" dirty="0"/>
          </a:p>
        </p:txBody>
      </p:sp>
      <p:sp>
        <p:nvSpPr>
          <p:cNvPr id="23" name="Shape 17"/>
          <p:cNvSpPr/>
          <p:nvPr/>
        </p:nvSpPr>
        <p:spPr>
          <a:xfrm>
            <a:off x="4709145" y="2364135"/>
            <a:ext cx="1924273" cy="998488"/>
          </a:xfrm>
          <a:prstGeom prst="roundRect">
            <a:avLst>
              <a:gd name="adj" fmla="val 4566"/>
            </a:avLst>
          </a:prstGeom>
          <a:solidFill>
            <a:srgbClr val="FFFDFA"/>
          </a:solidFill>
          <a:ln w="14288">
            <a:solidFill>
              <a:srgbClr val="DDD3BA"/>
            </a:solidFill>
            <a:prstDash val="solid"/>
          </a:ln>
        </p:spPr>
      </p:sp>
      <p:sp>
        <p:nvSpPr>
          <p:cNvPr id="24" name="Text 18"/>
          <p:cNvSpPr/>
          <p:nvPr/>
        </p:nvSpPr>
        <p:spPr>
          <a:xfrm>
            <a:off x="4831928" y="2486918"/>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a:t>
            </a:r>
            <a:r>
              <a:rPr lang="en-US" sz="1050" dirty="0">
                <a:solidFill>
                  <a:srgbClr val="454240"/>
                </a:solidFill>
                <a:latin typeface="Libre Baskerville" pitchFamily="34" charset="0"/>
                <a:ea typeface="Libre Baskerville" pitchFamily="34" charset="-122"/>
                <a:cs typeface="Libre Baskerville" pitchFamily="34" charset="-120"/>
              </a:rPr>
              <a:t> QR Code Generation</a:t>
            </a:r>
            <a:endParaRPr lang="en-US" sz="1050" dirty="0"/>
          </a:p>
        </p:txBody>
      </p:sp>
      <p:sp>
        <p:nvSpPr>
          <p:cNvPr id="25" name="Text 19"/>
          <p:cNvSpPr/>
          <p:nvPr/>
        </p:nvSpPr>
        <p:spPr>
          <a:xfrm>
            <a:off x="4831928" y="2751386"/>
            <a:ext cx="1678707" cy="488454"/>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Generate QR codes for share links, enabling easy mobile sharing and scanning.</a:t>
            </a:r>
            <a:endParaRPr lang="en-US" sz="850" dirty="0"/>
          </a:p>
        </p:txBody>
      </p:sp>
      <p:sp>
        <p:nvSpPr>
          <p:cNvPr id="26" name="Shape 20"/>
          <p:cNvSpPr/>
          <p:nvPr/>
        </p:nvSpPr>
        <p:spPr>
          <a:xfrm>
            <a:off x="6728371" y="2364135"/>
            <a:ext cx="1924273" cy="998488"/>
          </a:xfrm>
          <a:prstGeom prst="roundRect">
            <a:avLst>
              <a:gd name="adj" fmla="val 4566"/>
            </a:avLst>
          </a:prstGeom>
          <a:solidFill>
            <a:srgbClr val="FFFDFA"/>
          </a:solidFill>
          <a:ln w="14288">
            <a:solidFill>
              <a:srgbClr val="DDD3BA"/>
            </a:solidFill>
            <a:prstDash val="solid"/>
          </a:ln>
        </p:spPr>
      </p:sp>
      <p:sp>
        <p:nvSpPr>
          <p:cNvPr id="27" name="Text 21"/>
          <p:cNvSpPr/>
          <p:nvPr/>
        </p:nvSpPr>
        <p:spPr>
          <a:xfrm>
            <a:off x="6851154" y="2486918"/>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a:t>
            </a:r>
            <a:r>
              <a:rPr lang="en-US" sz="1050" dirty="0">
                <a:solidFill>
                  <a:srgbClr val="454240"/>
                </a:solidFill>
                <a:latin typeface="Libre Baskerville" pitchFamily="34" charset="0"/>
                <a:ea typeface="Libre Baskerville" pitchFamily="34" charset="-122"/>
                <a:cs typeface="Libre Baskerville" pitchFamily="34" charset="-120"/>
              </a:rPr>
              <a:t> Auto Expiration</a:t>
            </a:r>
            <a:endParaRPr lang="en-US" sz="1050" dirty="0"/>
          </a:p>
        </p:txBody>
      </p:sp>
      <p:sp>
        <p:nvSpPr>
          <p:cNvPr id="28" name="Text 22"/>
          <p:cNvSpPr/>
          <p:nvPr/>
        </p:nvSpPr>
        <p:spPr>
          <a:xfrm>
            <a:off x="6851154" y="2751386"/>
            <a:ext cx="1678707" cy="488454"/>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Implement TTL-based automatic expiration of shared content after a configurable duration.</a:t>
            </a:r>
            <a:endParaRPr lang="en-US" sz="850" dirty="0"/>
          </a:p>
        </p:txBody>
      </p:sp>
      <p:sp>
        <p:nvSpPr>
          <p:cNvPr id="29" name="Shape 23"/>
          <p:cNvSpPr/>
          <p:nvPr/>
        </p:nvSpPr>
        <p:spPr>
          <a:xfrm>
            <a:off x="4709145" y="3457575"/>
            <a:ext cx="1924273" cy="1161306"/>
          </a:xfrm>
          <a:prstGeom prst="roundRect">
            <a:avLst>
              <a:gd name="adj" fmla="val 3926"/>
            </a:avLst>
          </a:prstGeom>
          <a:solidFill>
            <a:srgbClr val="FFFDFA"/>
          </a:solidFill>
          <a:ln w="14288">
            <a:solidFill>
              <a:srgbClr val="DDD3BA"/>
            </a:solidFill>
            <a:prstDash val="solid"/>
          </a:ln>
        </p:spPr>
      </p:sp>
      <p:sp>
        <p:nvSpPr>
          <p:cNvPr id="30" name="Text 24"/>
          <p:cNvSpPr/>
          <p:nvPr/>
        </p:nvSpPr>
        <p:spPr>
          <a:xfrm>
            <a:off x="4831928" y="3580358"/>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a:t>
            </a:r>
            <a:r>
              <a:rPr lang="en-US" sz="1050" dirty="0">
                <a:solidFill>
                  <a:srgbClr val="454240"/>
                </a:solidFill>
                <a:latin typeface="Libre Baskerville" pitchFamily="34" charset="0"/>
                <a:ea typeface="Libre Baskerville" pitchFamily="34" charset="-122"/>
                <a:cs typeface="Libre Baskerville" pitchFamily="34" charset="-120"/>
              </a:rPr>
              <a:t> Custom Domains</a:t>
            </a:r>
            <a:endParaRPr lang="en-US" sz="1050" dirty="0"/>
          </a:p>
        </p:txBody>
      </p:sp>
      <p:sp>
        <p:nvSpPr>
          <p:cNvPr id="31" name="Text 25"/>
          <p:cNvSpPr/>
          <p:nvPr/>
        </p:nvSpPr>
        <p:spPr>
          <a:xfrm>
            <a:off x="4831928" y="3844826"/>
            <a:ext cx="1678707" cy="488454"/>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Use Amazon CloudFront and Route 53 to serve the app on a custom domain with HTTPS.</a:t>
            </a:r>
            <a:endParaRPr lang="en-US" sz="850" dirty="0"/>
          </a:p>
        </p:txBody>
      </p:sp>
      <p:sp>
        <p:nvSpPr>
          <p:cNvPr id="32" name="Shape 26"/>
          <p:cNvSpPr/>
          <p:nvPr/>
        </p:nvSpPr>
        <p:spPr>
          <a:xfrm>
            <a:off x="6728371" y="3457575"/>
            <a:ext cx="1924273" cy="1161306"/>
          </a:xfrm>
          <a:prstGeom prst="roundRect">
            <a:avLst>
              <a:gd name="adj" fmla="val 3926"/>
            </a:avLst>
          </a:prstGeom>
          <a:solidFill>
            <a:srgbClr val="FFFDFA"/>
          </a:solidFill>
          <a:ln w="14288">
            <a:solidFill>
              <a:srgbClr val="DDD3BA"/>
            </a:solidFill>
            <a:prstDash val="solid"/>
          </a:ln>
        </p:spPr>
      </p:sp>
      <p:sp>
        <p:nvSpPr>
          <p:cNvPr id="33" name="Text 27"/>
          <p:cNvSpPr/>
          <p:nvPr/>
        </p:nvSpPr>
        <p:spPr>
          <a:xfrm>
            <a:off x="6851154" y="3580358"/>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a:t>
            </a:r>
            <a:r>
              <a:rPr lang="en-US" sz="1050" dirty="0">
                <a:solidFill>
                  <a:srgbClr val="454240"/>
                </a:solidFill>
                <a:latin typeface="Libre Baskerville" pitchFamily="34" charset="0"/>
                <a:ea typeface="Libre Baskerville" pitchFamily="34" charset="-122"/>
                <a:cs typeface="Libre Baskerville" pitchFamily="34" charset="-120"/>
              </a:rPr>
              <a:t> Analytics Dashboard</a:t>
            </a:r>
            <a:endParaRPr lang="en-US" sz="1050" dirty="0"/>
          </a:p>
        </p:txBody>
      </p:sp>
      <p:sp>
        <p:nvSpPr>
          <p:cNvPr id="34" name="Text 28"/>
          <p:cNvSpPr/>
          <p:nvPr/>
        </p:nvSpPr>
        <p:spPr>
          <a:xfrm>
            <a:off x="6851154" y="3844826"/>
            <a:ext cx="1678707" cy="651272"/>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454240"/>
                </a:solidFill>
                <a:latin typeface="DM Sans" pitchFamily="34" charset="0"/>
                <a:ea typeface="DM Sans" pitchFamily="34" charset="-122"/>
                <a:cs typeface="DM Sans" pitchFamily="34" charset="-120"/>
              </a:rPr>
              <a:t>Build usage analytics using CloudWatch metrics and a dedicated dashboard for monitoring.</a:t>
            </a:r>
            <a:endParaRPr lang="en-US" sz="8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551631"/>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Conclusion</a:t>
            </a:r>
            <a:endParaRPr lang="en-US" sz="2400" dirty="0"/>
          </a:p>
        </p:txBody>
      </p:sp>
      <p:sp>
        <p:nvSpPr>
          <p:cNvPr id="3" name="Text 1"/>
          <p:cNvSpPr/>
          <p:nvPr/>
        </p:nvSpPr>
        <p:spPr>
          <a:xfrm>
            <a:off x="496119" y="1187202"/>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QuickShare demonstrates the practical implementation of a modern serverless web application using AWS cloud services. By combining React.js with AWS Lambda, API Gateway, Amazon S3, CloudWatch, and IAM, the project delivers a scalable, efficient, and secure text-sharing solution — with MongoDB Atlas providing persistent data storage.</a:t>
            </a:r>
            <a:endParaRPr lang="en-US" sz="950" dirty="0"/>
          </a:p>
        </p:txBody>
      </p:sp>
      <p:sp>
        <p:nvSpPr>
          <p:cNvPr id="4" name="Shape 2"/>
          <p:cNvSpPr/>
          <p:nvPr/>
        </p:nvSpPr>
        <p:spPr>
          <a:xfrm>
            <a:off x="496119" y="1922115"/>
            <a:ext cx="8151763" cy="1835795"/>
          </a:xfrm>
          <a:prstGeom prst="roundRect">
            <a:avLst>
              <a:gd name="adj" fmla="val 2838"/>
            </a:avLst>
          </a:prstGeom>
          <a:solidFill>
            <a:srgbClr val="F7EDD4"/>
          </a:solidFill>
          <a:ln w="4763">
            <a:solidFill>
              <a:srgbClr val="DDD3BA"/>
            </a:solidFill>
            <a:prstDash val="solid"/>
          </a:ln>
        </p:spPr>
      </p:sp>
      <p:sp>
        <p:nvSpPr>
          <p:cNvPr id="5" name="Shape 3"/>
          <p:cNvSpPr/>
          <p:nvPr/>
        </p:nvSpPr>
        <p:spPr>
          <a:xfrm>
            <a:off x="500881" y="1926878"/>
            <a:ext cx="4071119" cy="913135"/>
          </a:xfrm>
          <a:prstGeom prst="rect">
            <a:avLst/>
          </a:prstGeom>
          <a:solidFill>
            <a:srgbClr val="F7EDD4"/>
          </a:solidFill>
          <a:ln/>
        </p:spPr>
      </p:sp>
      <p:sp>
        <p:nvSpPr>
          <p:cNvPr id="6" name="Text 4"/>
          <p:cNvSpPr/>
          <p:nvPr/>
        </p:nvSpPr>
        <p:spPr>
          <a:xfrm>
            <a:off x="624855" y="2050852"/>
            <a:ext cx="3823171"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Reduced Overhead</a:t>
            </a:r>
            <a:endParaRPr lang="en-US" sz="1200" dirty="0"/>
          </a:p>
        </p:txBody>
      </p:sp>
      <p:sp>
        <p:nvSpPr>
          <p:cNvPr id="7" name="Text 5"/>
          <p:cNvSpPr/>
          <p:nvPr/>
        </p:nvSpPr>
        <p:spPr>
          <a:xfrm>
            <a:off x="624855" y="2319114"/>
            <a:ext cx="3823171"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No server provisioning, patching, or manual scaling required at any stage.</a:t>
            </a:r>
            <a:endParaRPr lang="en-US" sz="950" dirty="0"/>
          </a:p>
        </p:txBody>
      </p:sp>
      <p:sp>
        <p:nvSpPr>
          <p:cNvPr id="8" name="Shape 6"/>
          <p:cNvSpPr/>
          <p:nvPr/>
        </p:nvSpPr>
        <p:spPr>
          <a:xfrm>
            <a:off x="4572000" y="1926878"/>
            <a:ext cx="4071119" cy="913135"/>
          </a:xfrm>
          <a:prstGeom prst="rect">
            <a:avLst/>
          </a:prstGeom>
          <a:solidFill>
            <a:srgbClr val="F7EDD4"/>
          </a:solidFill>
          <a:ln/>
        </p:spPr>
      </p:sp>
      <p:sp>
        <p:nvSpPr>
          <p:cNvPr id="9" name="Shape 7"/>
          <p:cNvSpPr/>
          <p:nvPr/>
        </p:nvSpPr>
        <p:spPr>
          <a:xfrm>
            <a:off x="4572000" y="1926878"/>
            <a:ext cx="14288" cy="913135"/>
          </a:xfrm>
          <a:prstGeom prst="roundRect">
            <a:avLst>
              <a:gd name="adj" fmla="val 364638"/>
            </a:avLst>
          </a:prstGeom>
          <a:solidFill>
            <a:srgbClr val="DDD3BA"/>
          </a:solidFill>
          <a:ln/>
        </p:spPr>
      </p:sp>
      <p:sp>
        <p:nvSpPr>
          <p:cNvPr id="10" name="Text 8"/>
          <p:cNvSpPr/>
          <p:nvPr/>
        </p:nvSpPr>
        <p:spPr>
          <a:xfrm>
            <a:off x="4695974" y="2050852"/>
            <a:ext cx="3823171"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Cost Efficient</a:t>
            </a:r>
            <a:endParaRPr lang="en-US" sz="1200" dirty="0"/>
          </a:p>
        </p:txBody>
      </p:sp>
      <p:sp>
        <p:nvSpPr>
          <p:cNvPr id="11" name="Text 9"/>
          <p:cNvSpPr/>
          <p:nvPr/>
        </p:nvSpPr>
        <p:spPr>
          <a:xfrm>
            <a:off x="4695974" y="2319114"/>
            <a:ext cx="3823171"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Pay only for actual compute usage — zero cost when the application is idle.</a:t>
            </a:r>
            <a:endParaRPr lang="en-US" sz="950" dirty="0"/>
          </a:p>
        </p:txBody>
      </p:sp>
      <p:sp>
        <p:nvSpPr>
          <p:cNvPr id="12" name="Shape 10"/>
          <p:cNvSpPr/>
          <p:nvPr/>
        </p:nvSpPr>
        <p:spPr>
          <a:xfrm>
            <a:off x="500881" y="2840013"/>
            <a:ext cx="4071119" cy="913135"/>
          </a:xfrm>
          <a:prstGeom prst="rect">
            <a:avLst/>
          </a:prstGeom>
          <a:solidFill>
            <a:srgbClr val="F7EDD4"/>
          </a:solidFill>
          <a:ln/>
        </p:spPr>
      </p:sp>
      <p:sp>
        <p:nvSpPr>
          <p:cNvPr id="13" name="Shape 11"/>
          <p:cNvSpPr/>
          <p:nvPr/>
        </p:nvSpPr>
        <p:spPr>
          <a:xfrm>
            <a:off x="500881" y="2840013"/>
            <a:ext cx="4071119" cy="14288"/>
          </a:xfrm>
          <a:prstGeom prst="roundRect">
            <a:avLst>
              <a:gd name="adj" fmla="val 364638"/>
            </a:avLst>
          </a:prstGeom>
          <a:solidFill>
            <a:srgbClr val="DDD3BA"/>
          </a:solidFill>
          <a:ln/>
        </p:spPr>
      </p:sp>
      <p:sp>
        <p:nvSpPr>
          <p:cNvPr id="14" name="Text 12"/>
          <p:cNvSpPr/>
          <p:nvPr/>
        </p:nvSpPr>
        <p:spPr>
          <a:xfrm>
            <a:off x="624855" y="2963987"/>
            <a:ext cx="3823171"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Production Ready</a:t>
            </a:r>
            <a:endParaRPr lang="en-US" sz="1200" dirty="0"/>
          </a:p>
        </p:txBody>
      </p:sp>
      <p:sp>
        <p:nvSpPr>
          <p:cNvPr id="15" name="Text 13"/>
          <p:cNvSpPr/>
          <p:nvPr/>
        </p:nvSpPr>
        <p:spPr>
          <a:xfrm>
            <a:off x="624855" y="3232249"/>
            <a:ext cx="3823171" cy="198462"/>
          </a:xfrm>
          <a:prstGeom prst="rect">
            <a:avLst/>
          </a:prstGeom>
          <a:noFill/>
          <a:ln/>
        </p:spPr>
        <p:txBody>
          <a:bodyPr wrap="none" lIns="0" tIns="0" rIns="0" bIns="0" rtlCol="0" anchor="t"/>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Built-in monitoring, security, and high availability from day one.</a:t>
            </a:r>
            <a:endParaRPr lang="en-US" sz="950" dirty="0"/>
          </a:p>
        </p:txBody>
      </p:sp>
      <p:sp>
        <p:nvSpPr>
          <p:cNvPr id="16" name="Shape 14"/>
          <p:cNvSpPr/>
          <p:nvPr/>
        </p:nvSpPr>
        <p:spPr>
          <a:xfrm>
            <a:off x="4572000" y="2840013"/>
            <a:ext cx="4071119" cy="913135"/>
          </a:xfrm>
          <a:prstGeom prst="rect">
            <a:avLst/>
          </a:prstGeom>
          <a:solidFill>
            <a:srgbClr val="F7EDD4"/>
          </a:solidFill>
          <a:ln/>
        </p:spPr>
      </p:sp>
      <p:sp>
        <p:nvSpPr>
          <p:cNvPr id="17" name="Shape 15"/>
          <p:cNvSpPr/>
          <p:nvPr/>
        </p:nvSpPr>
        <p:spPr>
          <a:xfrm>
            <a:off x="4572000" y="2840013"/>
            <a:ext cx="14288" cy="913135"/>
          </a:xfrm>
          <a:prstGeom prst="roundRect">
            <a:avLst>
              <a:gd name="adj" fmla="val 364638"/>
            </a:avLst>
          </a:prstGeom>
          <a:solidFill>
            <a:srgbClr val="DDD3BA"/>
          </a:solidFill>
          <a:ln/>
        </p:spPr>
      </p:sp>
      <p:sp>
        <p:nvSpPr>
          <p:cNvPr id="18" name="Shape 16"/>
          <p:cNvSpPr/>
          <p:nvPr/>
        </p:nvSpPr>
        <p:spPr>
          <a:xfrm>
            <a:off x="4572000" y="2840013"/>
            <a:ext cx="4071119" cy="14288"/>
          </a:xfrm>
          <a:prstGeom prst="roundRect">
            <a:avLst>
              <a:gd name="adj" fmla="val 364638"/>
            </a:avLst>
          </a:prstGeom>
          <a:solidFill>
            <a:srgbClr val="DDD3BA"/>
          </a:solidFill>
          <a:ln/>
        </p:spPr>
      </p:sp>
      <p:sp>
        <p:nvSpPr>
          <p:cNvPr id="19" name="Text 17"/>
          <p:cNvSpPr/>
          <p:nvPr/>
        </p:nvSpPr>
        <p:spPr>
          <a:xfrm>
            <a:off x="4695974" y="2963987"/>
            <a:ext cx="3823171" cy="193849"/>
          </a:xfrm>
          <a:prstGeom prst="rect">
            <a:avLst/>
          </a:prstGeom>
          <a:noFill/>
          <a:ln/>
        </p:spPr>
        <p:txBody>
          <a:bodyPr wrap="none" lIns="0" tIns="0" rIns="0" bIns="0" rtlCol="0" anchor="t"/>
          <a:lstStyle/>
          <a:p>
            <a:pPr marL="0" indent="0" algn="l">
              <a:lnSpc>
                <a:spcPct val="104000"/>
              </a:lnSpc>
              <a:buNone/>
            </a:pPr>
            <a:r>
              <a:rPr lang="en-US" sz="1200" dirty="0">
                <a:solidFill>
                  <a:srgbClr val="454240"/>
                </a:solidFill>
                <a:latin typeface="Libre Baskerville" pitchFamily="34" charset="0"/>
                <a:ea typeface="Libre Baskerville" pitchFamily="34" charset="-122"/>
                <a:cs typeface="Libre Baskerville" pitchFamily="34" charset="-120"/>
              </a:rPr>
              <a:t>Scalable by Design</a:t>
            </a:r>
            <a:endParaRPr lang="en-US" sz="1200" dirty="0"/>
          </a:p>
        </p:txBody>
      </p:sp>
      <p:sp>
        <p:nvSpPr>
          <p:cNvPr id="20" name="Text 18"/>
          <p:cNvSpPr/>
          <p:nvPr/>
        </p:nvSpPr>
        <p:spPr>
          <a:xfrm>
            <a:off x="4695974" y="3232249"/>
            <a:ext cx="3823171"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54240"/>
                </a:solidFill>
                <a:latin typeface="DM Sans" pitchFamily="34" charset="0"/>
                <a:ea typeface="DM Sans" pitchFamily="34" charset="-122"/>
                <a:cs typeface="DM Sans" pitchFamily="34" charset="-120"/>
              </a:rPr>
              <a:t>AWS automatically scales to meet demand without any configuration changes.</a:t>
            </a:r>
            <a:endParaRPr lang="en-US" sz="950" dirty="0"/>
          </a:p>
        </p:txBody>
      </p:sp>
      <p:sp>
        <p:nvSpPr>
          <p:cNvPr id="21" name="Shape 19"/>
          <p:cNvSpPr/>
          <p:nvPr/>
        </p:nvSpPr>
        <p:spPr>
          <a:xfrm>
            <a:off x="496119" y="3897437"/>
            <a:ext cx="8151763" cy="694432"/>
          </a:xfrm>
          <a:prstGeom prst="roundRect">
            <a:avLst>
              <a:gd name="adj" fmla="val 7502"/>
            </a:avLst>
          </a:prstGeom>
          <a:solidFill>
            <a:srgbClr val="B6FCB8"/>
          </a:solidFill>
          <a:ln/>
        </p:spPr>
      </p:sp>
      <p:pic>
        <p:nvPicPr>
          <p:cNvPr id="22" name="Image 0" descr="preencoded.png"/>
          <p:cNvPicPr>
            <a:picLocks noChangeAspect="1"/>
          </p:cNvPicPr>
          <p:nvPr/>
        </p:nvPicPr>
        <p:blipFill>
          <a:blip r:embed="rId3"/>
          <a:stretch>
            <a:fillRect/>
          </a:stretch>
        </p:blipFill>
        <p:spPr>
          <a:xfrm>
            <a:off x="620092" y="4077221"/>
            <a:ext cx="155004" cy="123974"/>
          </a:xfrm>
          <a:prstGeom prst="rect">
            <a:avLst/>
          </a:prstGeom>
        </p:spPr>
      </p:pic>
      <p:sp>
        <p:nvSpPr>
          <p:cNvPr id="23" name="Text 20"/>
          <p:cNvSpPr/>
          <p:nvPr/>
        </p:nvSpPr>
        <p:spPr>
          <a:xfrm>
            <a:off x="899071" y="4052367"/>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DM Sans" pitchFamily="34" charset="0"/>
                <a:ea typeface="DM Sans" pitchFamily="34" charset="-122"/>
                <a:cs typeface="DM Sans" pitchFamily="34" charset="-120"/>
              </a:rPr>
              <a:t>QuickShare serves as a strong reference architecture for teams looking to adopt serverless patterns for lightweight, event-driven applications on AWS.</a:t>
            </a:r>
            <a:endParaRPr lang="en-US" sz="9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8"/>
          <p:cNvSpPr/>
          <p:nvPr/>
        </p:nvSpPr>
        <p:spPr>
          <a:xfrm>
            <a:off x="4695974" y="2050852"/>
            <a:ext cx="3823171" cy="193849"/>
          </a:xfrm>
          <a:prstGeom prst="rect">
            <a:avLst/>
          </a:prstGeom>
          <a:noFill/>
          <a:ln/>
        </p:spPr>
        <p:txBody>
          <a:bodyPr wrap="none" lIns="0" tIns="0" rIns="0" bIns="0" rtlCol="0" anchor="t"/>
          <a:lstStyle/>
          <a:p>
            <a:pPr marL="0" indent="0" algn="l">
              <a:lnSpc>
                <a:spcPct val="104000"/>
              </a:lnSpc>
              <a:buNone/>
            </a:pPr>
            <a:endParaRPr lang="en-US" sz="1200" dirty="0"/>
          </a:p>
        </p:txBody>
      </p:sp>
      <p:sp>
        <p:nvSpPr>
          <p:cNvPr id="11" name="Text 9"/>
          <p:cNvSpPr/>
          <p:nvPr/>
        </p:nvSpPr>
        <p:spPr>
          <a:xfrm>
            <a:off x="4695974" y="2319114"/>
            <a:ext cx="3823171" cy="396925"/>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19" name="Text 17"/>
          <p:cNvSpPr/>
          <p:nvPr/>
        </p:nvSpPr>
        <p:spPr>
          <a:xfrm>
            <a:off x="4695974" y="2963987"/>
            <a:ext cx="3823171" cy="193849"/>
          </a:xfrm>
          <a:prstGeom prst="rect">
            <a:avLst/>
          </a:prstGeom>
          <a:noFill/>
          <a:ln/>
        </p:spPr>
        <p:txBody>
          <a:bodyPr wrap="none" lIns="0" tIns="0" rIns="0" bIns="0" rtlCol="0" anchor="t"/>
          <a:lstStyle/>
          <a:p>
            <a:pPr marL="0" indent="0" algn="l">
              <a:lnSpc>
                <a:spcPct val="104000"/>
              </a:lnSpc>
              <a:buNone/>
            </a:pPr>
            <a:endParaRPr lang="en-US" sz="1200" dirty="0"/>
          </a:p>
        </p:txBody>
      </p:sp>
      <p:sp>
        <p:nvSpPr>
          <p:cNvPr id="20" name="Text 18"/>
          <p:cNvSpPr/>
          <p:nvPr/>
        </p:nvSpPr>
        <p:spPr>
          <a:xfrm>
            <a:off x="4695974" y="3232249"/>
            <a:ext cx="3823171" cy="396925"/>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23" name="Text 20"/>
          <p:cNvSpPr/>
          <p:nvPr/>
        </p:nvSpPr>
        <p:spPr>
          <a:xfrm>
            <a:off x="899071" y="4052367"/>
            <a:ext cx="7624837" cy="396925"/>
          </a:xfrm>
          <a:prstGeom prst="rect">
            <a:avLst/>
          </a:prstGeom>
          <a:noFill/>
          <a:ln/>
        </p:spPr>
        <p:txBody>
          <a:bodyPr wrap="square" lIns="0" tIns="0" rIns="0" bIns="0" rtlCol="0" anchor="t">
            <a:normAutofit/>
          </a:bodyPr>
          <a:lstStyle/>
          <a:p>
            <a:pPr marL="0" indent="0" algn="l">
              <a:lnSpc>
                <a:spcPct val="133000"/>
              </a:lnSpc>
              <a:buNone/>
            </a:pPr>
            <a:endParaRPr lang="en-US" sz="950" dirty="0"/>
          </a:p>
        </p:txBody>
      </p:sp>
      <p:sp>
        <p:nvSpPr>
          <p:cNvPr id="25" name="Text 0"/>
          <p:cNvSpPr/>
          <p:nvPr/>
        </p:nvSpPr>
        <p:spPr>
          <a:xfrm>
            <a:off x="800919" y="1624534"/>
            <a:ext cx="8151763" cy="387548"/>
          </a:xfrm>
          <a:prstGeom prst="rect">
            <a:avLst/>
          </a:prstGeom>
          <a:noFill/>
          <a:ln/>
        </p:spPr>
        <p:txBody>
          <a:bodyPr wrap="none" lIns="0" tIns="0" rIns="0" bIns="0" rtlCol="0" anchor="t"/>
          <a:lstStyle/>
          <a:p>
            <a:endParaRPr lang="en-US" sz="2400" dirty="0"/>
          </a:p>
        </p:txBody>
      </p:sp>
      <p:sp>
        <p:nvSpPr>
          <p:cNvPr id="26" name="Text 0"/>
          <p:cNvSpPr/>
          <p:nvPr/>
        </p:nvSpPr>
        <p:spPr>
          <a:xfrm>
            <a:off x="800919" y="856431"/>
            <a:ext cx="8151763" cy="387548"/>
          </a:xfrm>
          <a:prstGeom prst="rect">
            <a:avLst/>
          </a:prstGeom>
          <a:noFill/>
          <a:ln/>
        </p:spPr>
        <p:txBody>
          <a:bodyPr wrap="none" lIns="0" tIns="0" rIns="0" bIns="0" rtlCol="0" anchor="t"/>
          <a:lstStyle/>
          <a:p>
            <a:pPr marL="0" indent="0" algn="l">
              <a:lnSpc>
                <a:spcPct val="104000"/>
              </a:lnSpc>
              <a:buNone/>
            </a:pPr>
            <a:endParaRPr lang="en-US" sz="2400" dirty="0">
              <a:solidFill>
                <a:schemeClr val="accent2">
                  <a:lumMod val="50000"/>
                </a:schemeClr>
              </a:solidFill>
            </a:endParaRPr>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0" y="36718"/>
            <a:ext cx="7437550" cy="5106782"/>
          </a:xfrm>
          <a:prstGeom prst="rect">
            <a:avLst/>
          </a:prstGeom>
        </p:spPr>
      </p:pic>
    </p:spTree>
    <p:extLst>
      <p:ext uri="{BB962C8B-B14F-4D97-AF65-F5344CB8AC3E}">
        <p14:creationId xmlns:p14="http://schemas.microsoft.com/office/powerpoint/2010/main" val="33237935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1329</Words>
  <Application>Microsoft Office PowerPoint</Application>
  <PresentationFormat>On-screen Show (16:9)</PresentationFormat>
  <Paragraphs>133</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 Light</vt:lpstr>
      <vt:lpstr>DM Sans Bold</vt:lpstr>
      <vt:lpstr>Consolas</vt:lpstr>
      <vt:lpstr>Calibri</vt:lpstr>
      <vt:lpstr>DM Sans</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admin</cp:lastModifiedBy>
  <cp:revision>15</cp:revision>
  <dcterms:created xsi:type="dcterms:W3CDTF">2026-07-13T15:35:12Z</dcterms:created>
  <dcterms:modified xsi:type="dcterms:W3CDTF">2026-07-14T06:35:01Z</dcterms:modified>
</cp:coreProperties>
</file>